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832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Ban Giám Khảo và toàn thể các bạn, chúng tôi là Team 156 đến từ AI20K Cohort 3. Hôm nay, chúng tôi xin giới thiệu SmartRoute AI Gateway — giải pháp cổng định tuyến mô hình AI thông minh tương thích hoàn toàn với chuẩn OpenAI API, giúp các doanh nghiệp và lập trình viên cắt giảm hơn 80% chi phí gọi LLM, loại bỏ rủi ro gián đoạn dịch vụ mà không cần thay đổi kiến trúc ứng dụng.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đưa LLM vào sản phẩm thực tế, mọi nhóm phát triển đều gặp phải 'tam giác nan giải': Chi phí quá đắt nếu dùng model mạnh, Chất lượng kém nếu dùng model rẻ, và Rủi ro sập hệ thống khi bị dính rate-limit của một nhà cung cấp duy nhất.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SmartRoute là một Proxy Gateway trung gian. Lập trình viên chỉ cần thay đổi địa chỉ endpoint thành SmartRoute. Với mỗi request đi qua, hệ thống sẽ phân tích độ khó của câu hỏi trong chưa đầy 1 mili-giây, áp dụng chính sách định tuyến tối ưu, và tự động chọn model phù hợp nhất.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màn hình là giao diện thực tế của SmartRoute. Tại Playground, khi gửi một câu hỏi logic phức tạp, hệ thống tự nhận diện Tier 3 và điều phối tới model mạnh. Ngược lại với câu hỏi thông thường, request được gửi tới Tier 1 với chi phí gần như bằng 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SmartRoute bao gồm: Client gọi qua chuẩn OpenAI spec, FastAPI Gateway xử lý trung tâm, Auth &amp; Rate Limiter bảo vệ hệ thống, Classifier &amp; Policy Engine phân tích độ khó, và các Provider Adapters kết nối đa nhà cung cấp. Toàn bộ log được lưu vào Supabase PostgreSQL với cơ chế Two-Phase Logging.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sáng trong cách tiếp cận AI của chúng tôi là thuật toán Heuristic Router lai ghép kết hợp Session Router đa lượt. Thay vì dùng một LLM cồng kềnh khác để định tuyến, chúng tôi phát triển bộ phân loại siêu nhẹ chỉ mất 0.5 mili-giây.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Chúng tôi áp dụng kỷ luật công nghệ nghiêm ngặt ngay từ ngày đầu: 100% commit đều đi qua pipeline CI/CD tự động kiểm tra cú pháp, chạy test suite và xác thực OpenAPI contract trên Self-hosted Runner.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quan trọng nhất: Bằng chứng thực nghiệm. Khi chạy thử nghiệm đối sánh giữa việc dùng 100% model Frontier đắt tiền so với qua SmartRoute Gateway, chúng tôi đạt mức tiết kiệm chi phí lên đến 86.74%.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quá trình xây dựng, thách thức lớn nhất là làm sao để router thật nhanh nhưng không đoán sai độ khó. Chúng tôi đã thử nghiệm nhiều phiên bản và rút ra bài học: kết hợp Heuristic quy tắc chính xác với cơ chế fallback là cách làm thực tế nhất.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hoàn thành dự án này, 4 thành viên trong Team 156 đã đảm nhiệm các vai trò chuyên biệt. Trong tương lai, chúng tôi hướng tới mở rộng SmartRoute thành một hệ sinh thái Gateway toàn diện. Chúng tôi rất mong nhận được phản hồi và sự đồng hành của quý Ban Giám Khảo. Xin chân thành cảm ơn!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Shape 1"/>
          <p:cNvSpPr/>
          <p:nvPr/>
        </p:nvSpPr>
        <p:spPr>
          <a:xfrm>
            <a:off x="0" y="0"/>
            <a:ext cx="9144000" cy="2560320"/>
          </a:xfrm>
          <a:prstGeom prst="rect">
            <a:avLst/>
          </a:prstGeom>
          <a:solidFill>
            <a:srgbClr val="111827"/>
          </a:solidFill>
          <a:ln w="12700">
            <a:solidFill>
              <a:srgbClr val="111827"/>
            </a:solidFill>
            <a:prstDash val="solid"/>
          </a:ln>
        </p:spPr>
      </p:sp>
      <p:sp>
        <p:nvSpPr>
          <p:cNvPr id="4" name="Shape 2"/>
          <p:cNvSpPr/>
          <p:nvPr/>
        </p:nvSpPr>
        <p:spPr>
          <a:xfrm>
            <a:off x="-457200" y="-457200"/>
            <a:ext cx="2743200" cy="2743200"/>
          </a:xfrm>
          <a:prstGeom prst="ellipse">
            <a:avLst/>
          </a:prstGeom>
          <a:solidFill>
            <a:srgbClr val="003D52">
              <a:alpha val="70000"/>
            </a:srgbClr>
          </a:solidFill>
          <a:ln w="12700">
            <a:solidFill>
              <a:srgbClr val="003D52">
                <a:alpha val="70000"/>
              </a:srgbClr>
            </a:solidFill>
            <a:prstDash val="solid"/>
          </a:ln>
        </p:spPr>
      </p:sp>
      <p:sp>
        <p:nvSpPr>
          <p:cNvPr id="5" name="Shape 3"/>
          <p:cNvSpPr/>
          <p:nvPr/>
        </p:nvSpPr>
        <p:spPr>
          <a:xfrm>
            <a:off x="7315200" y="-457200"/>
            <a:ext cx="2743200" cy="2743200"/>
          </a:xfrm>
          <a:prstGeom prst="ellipse">
            <a:avLst/>
          </a:prstGeom>
          <a:solidFill>
            <a:srgbClr val="2D1B69">
              <a:alpha val="70000"/>
            </a:srgbClr>
          </a:solidFill>
          <a:ln w="12700">
            <a:solidFill>
              <a:srgbClr val="2D1B69">
                <a:alpha val="70000"/>
              </a:srgbClr>
            </a:solidFill>
            <a:prstDash val="solid"/>
          </a:ln>
        </p:spPr>
      </p:sp>
      <p:sp>
        <p:nvSpPr>
          <p:cNvPr id="6" name="Text 4"/>
          <p:cNvSpPr/>
          <p:nvPr/>
        </p:nvSpPr>
        <p:spPr>
          <a:xfrm>
            <a:off x="548640" y="365760"/>
            <a:ext cx="8046720" cy="73152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SmartRoute AI Gateway</a:t>
            </a:r>
            <a:endParaRPr lang="en-US" sz="4200" dirty="0"/>
          </a:p>
        </p:txBody>
      </p:sp>
      <p:sp>
        <p:nvSpPr>
          <p:cNvPr id="7" name="Text 5"/>
          <p:cNvSpPr/>
          <p:nvPr/>
        </p:nvSpPr>
        <p:spPr>
          <a:xfrm>
            <a:off x="548640" y="1143000"/>
            <a:ext cx="8046720" cy="411480"/>
          </a:xfrm>
          <a:prstGeom prst="rect">
            <a:avLst/>
          </a:prstGeom>
          <a:noFill/>
          <a:ln/>
        </p:spPr>
        <p:txBody>
          <a:bodyPr wrap="square" rtlCol="0" anchor="ctr"/>
          <a:lstStyle/>
          <a:p>
            <a:pPr marL="0" indent="0" algn="ctr">
              <a:buNone/>
            </a:pPr>
            <a:r>
              <a:rPr lang="en-US" sz="1700" i="1" dirty="0">
                <a:solidFill>
                  <a:srgbClr val="00D4FF"/>
                </a:solidFill>
                <a:latin typeface="Calibri" pitchFamily="34" charset="0"/>
                <a:ea typeface="Calibri" pitchFamily="34" charset="-122"/>
                <a:cs typeface="Calibri" pitchFamily="34" charset="-120"/>
              </a:rPr>
              <a:t>Intelligent • Cost-Efficient • Resilient LLM Routing</a:t>
            </a:r>
            <a:endParaRPr lang="en-US" sz="1700" dirty="0"/>
          </a:p>
        </p:txBody>
      </p:sp>
      <p:sp>
        <p:nvSpPr>
          <p:cNvPr id="8" name="Shape 6"/>
          <p:cNvSpPr/>
          <p:nvPr/>
        </p:nvSpPr>
        <p:spPr>
          <a:xfrm>
            <a:off x="1371600" y="1920240"/>
            <a:ext cx="6400800" cy="640080"/>
          </a:xfrm>
          <a:prstGeom prst="roundRect">
            <a:avLst>
              <a:gd name="adj" fmla="val 17143"/>
            </a:avLst>
          </a:prstGeom>
          <a:solidFill>
            <a:srgbClr val="1A2332"/>
          </a:solidFill>
          <a:ln w="12700">
            <a:solidFill>
              <a:srgbClr val="1F2937"/>
            </a:solidFill>
            <a:prstDash val="solid"/>
          </a:ln>
        </p:spPr>
      </p:sp>
      <p:sp>
        <p:nvSpPr>
          <p:cNvPr id="9" name="Text 7"/>
          <p:cNvSpPr/>
          <p:nvPr/>
        </p:nvSpPr>
        <p:spPr>
          <a:xfrm>
            <a:off x="1371600" y="1965960"/>
            <a:ext cx="6400800" cy="548640"/>
          </a:xfrm>
          <a:prstGeom prst="rect">
            <a:avLst/>
          </a:prstGeom>
          <a:noFill/>
          <a:ln/>
        </p:spPr>
        <p:txBody>
          <a:bodyPr wrap="square"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Giảm tới 80%+ chi phí vận hành LLM — không thay đổi kiến trúc ứng dụng</a:t>
            </a:r>
            <a:endParaRPr lang="en-US" sz="1400" dirty="0"/>
          </a:p>
        </p:txBody>
      </p:sp>
      <p:sp>
        <p:nvSpPr>
          <p:cNvPr id="10" name="Shape 8"/>
          <p:cNvSpPr/>
          <p:nvPr/>
        </p:nvSpPr>
        <p:spPr>
          <a:xfrm>
            <a:off x="1371600" y="2743200"/>
            <a:ext cx="6400800" cy="0"/>
          </a:xfrm>
          <a:prstGeom prst="line">
            <a:avLst/>
          </a:prstGeom>
          <a:noFill/>
          <a:ln w="12700">
            <a:solidFill>
              <a:srgbClr val="64748B"/>
            </a:solidFill>
            <a:prstDash val="solid"/>
          </a:ln>
        </p:spPr>
      </p:sp>
      <p:sp>
        <p:nvSpPr>
          <p:cNvPr id="11" name="Text 9"/>
          <p:cNvSpPr/>
          <p:nvPr/>
        </p:nvSpPr>
        <p:spPr>
          <a:xfrm>
            <a:off x="548640" y="2834640"/>
            <a:ext cx="8046720" cy="320040"/>
          </a:xfrm>
          <a:prstGeom prst="rect">
            <a:avLst/>
          </a:prstGeom>
          <a:noFill/>
          <a:ln/>
        </p:spPr>
        <p:txBody>
          <a:bodyPr wrap="square" rtlCol="0" anchor="ctr"/>
          <a:lstStyle/>
          <a:p>
            <a:pPr marL="0" indent="0" algn="ctr">
              <a:buNone/>
            </a:pPr>
            <a:r>
              <a:rPr lang="en-US" sz="1300" b="1" dirty="0">
                <a:solidFill>
                  <a:srgbClr val="00D4FF"/>
                </a:solidFill>
                <a:latin typeface="Calibri" pitchFamily="34" charset="0"/>
                <a:ea typeface="Calibri" pitchFamily="34" charset="-122"/>
                <a:cs typeface="Calibri" pitchFamily="34" charset="-120"/>
              </a:rPr>
              <a:t>Team 156  —  AI20K Build Phase Cohort 3</a:t>
            </a:r>
            <a:endParaRPr lang="en-US" sz="1300" dirty="0"/>
          </a:p>
        </p:txBody>
      </p:sp>
      <p:sp>
        <p:nvSpPr>
          <p:cNvPr id="12" name="Shape 10"/>
          <p:cNvSpPr/>
          <p:nvPr/>
        </p:nvSpPr>
        <p:spPr>
          <a:xfrm>
            <a:off x="457200" y="3246120"/>
            <a:ext cx="2057400" cy="822960"/>
          </a:xfrm>
          <a:prstGeom prst="roundRect">
            <a:avLst>
              <a:gd name="adj" fmla="val 13333"/>
            </a:avLst>
          </a:prstGeom>
          <a:solidFill>
            <a:srgbClr val="161B22"/>
          </a:solidFill>
          <a:ln w="12700">
            <a:solidFill>
              <a:srgbClr val="1F2937"/>
            </a:solidFill>
            <a:prstDash val="solid"/>
          </a:ln>
        </p:spPr>
      </p:sp>
      <p:sp>
        <p:nvSpPr>
          <p:cNvPr id="13" name="Text 11"/>
          <p:cNvSpPr/>
          <p:nvPr/>
        </p:nvSpPr>
        <p:spPr>
          <a:xfrm>
            <a:off x="548640" y="3291840"/>
            <a:ext cx="18745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Trần Vương Hưng</a:t>
            </a:r>
            <a:endParaRPr lang="en-US" sz="1100" dirty="0"/>
          </a:p>
        </p:txBody>
      </p:sp>
      <p:sp>
        <p:nvSpPr>
          <p:cNvPr id="14" name="Text 12"/>
          <p:cNvSpPr/>
          <p:nvPr/>
        </p:nvSpPr>
        <p:spPr>
          <a:xfrm>
            <a:off x="548640" y="3584448"/>
            <a:ext cx="1874520" cy="22860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2A202601789</a:t>
            </a:r>
            <a:endParaRPr lang="en-US" sz="1000" dirty="0"/>
          </a:p>
        </p:txBody>
      </p:sp>
      <p:sp>
        <p:nvSpPr>
          <p:cNvPr id="15" name="Shape 13"/>
          <p:cNvSpPr/>
          <p:nvPr/>
        </p:nvSpPr>
        <p:spPr>
          <a:xfrm>
            <a:off x="2697480" y="3246120"/>
            <a:ext cx="2057400" cy="822960"/>
          </a:xfrm>
          <a:prstGeom prst="roundRect">
            <a:avLst>
              <a:gd name="adj" fmla="val 13333"/>
            </a:avLst>
          </a:prstGeom>
          <a:solidFill>
            <a:srgbClr val="161B22"/>
          </a:solidFill>
          <a:ln w="12700">
            <a:solidFill>
              <a:srgbClr val="1F2937"/>
            </a:solidFill>
            <a:prstDash val="solid"/>
          </a:ln>
        </p:spPr>
      </p:sp>
      <p:sp>
        <p:nvSpPr>
          <p:cNvPr id="16" name="Text 14"/>
          <p:cNvSpPr/>
          <p:nvPr/>
        </p:nvSpPr>
        <p:spPr>
          <a:xfrm>
            <a:off x="2788920" y="3291840"/>
            <a:ext cx="18745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Trần Trung Hiếu</a:t>
            </a:r>
            <a:endParaRPr lang="en-US" sz="1100" dirty="0"/>
          </a:p>
        </p:txBody>
      </p:sp>
      <p:sp>
        <p:nvSpPr>
          <p:cNvPr id="17" name="Text 15"/>
          <p:cNvSpPr/>
          <p:nvPr/>
        </p:nvSpPr>
        <p:spPr>
          <a:xfrm>
            <a:off x="2788920" y="3584448"/>
            <a:ext cx="1874520" cy="22860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2A202602002</a:t>
            </a:r>
            <a:endParaRPr lang="en-US" sz="1000" dirty="0"/>
          </a:p>
        </p:txBody>
      </p:sp>
      <p:sp>
        <p:nvSpPr>
          <p:cNvPr id="18" name="Shape 16"/>
          <p:cNvSpPr/>
          <p:nvPr/>
        </p:nvSpPr>
        <p:spPr>
          <a:xfrm>
            <a:off x="4892040" y="3246120"/>
            <a:ext cx="2057400" cy="822960"/>
          </a:xfrm>
          <a:prstGeom prst="roundRect">
            <a:avLst>
              <a:gd name="adj" fmla="val 13333"/>
            </a:avLst>
          </a:prstGeom>
          <a:solidFill>
            <a:srgbClr val="161B22"/>
          </a:solidFill>
          <a:ln w="12700">
            <a:solidFill>
              <a:srgbClr val="1F2937"/>
            </a:solidFill>
            <a:prstDash val="solid"/>
          </a:ln>
        </p:spPr>
      </p:sp>
      <p:sp>
        <p:nvSpPr>
          <p:cNvPr id="19" name="Text 17"/>
          <p:cNvSpPr/>
          <p:nvPr/>
        </p:nvSpPr>
        <p:spPr>
          <a:xfrm>
            <a:off x="4983480" y="3291840"/>
            <a:ext cx="18745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Nguyễn Thành An</a:t>
            </a:r>
            <a:endParaRPr lang="en-US" sz="1100" dirty="0"/>
          </a:p>
        </p:txBody>
      </p:sp>
      <p:sp>
        <p:nvSpPr>
          <p:cNvPr id="20" name="Text 18"/>
          <p:cNvSpPr/>
          <p:nvPr/>
        </p:nvSpPr>
        <p:spPr>
          <a:xfrm>
            <a:off x="4983480" y="3584448"/>
            <a:ext cx="1874520" cy="22860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2A202601017</a:t>
            </a:r>
            <a:endParaRPr lang="en-US" sz="1000" dirty="0"/>
          </a:p>
        </p:txBody>
      </p:sp>
      <p:sp>
        <p:nvSpPr>
          <p:cNvPr id="21" name="Shape 19"/>
          <p:cNvSpPr/>
          <p:nvPr/>
        </p:nvSpPr>
        <p:spPr>
          <a:xfrm>
            <a:off x="7086600" y="3246120"/>
            <a:ext cx="2057400" cy="822960"/>
          </a:xfrm>
          <a:prstGeom prst="roundRect">
            <a:avLst>
              <a:gd name="adj" fmla="val 13333"/>
            </a:avLst>
          </a:prstGeom>
          <a:solidFill>
            <a:srgbClr val="161B22"/>
          </a:solidFill>
          <a:ln w="12700">
            <a:solidFill>
              <a:srgbClr val="1F2937"/>
            </a:solidFill>
            <a:prstDash val="solid"/>
          </a:ln>
        </p:spPr>
      </p:sp>
      <p:sp>
        <p:nvSpPr>
          <p:cNvPr id="22" name="Text 20"/>
          <p:cNvSpPr/>
          <p:nvPr/>
        </p:nvSpPr>
        <p:spPr>
          <a:xfrm>
            <a:off x="7178040" y="3291840"/>
            <a:ext cx="18745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Lê Trần Long</a:t>
            </a:r>
            <a:endParaRPr lang="en-US" sz="1100" dirty="0"/>
          </a:p>
        </p:txBody>
      </p:sp>
      <p:sp>
        <p:nvSpPr>
          <p:cNvPr id="23" name="Text 21"/>
          <p:cNvSpPr/>
          <p:nvPr/>
        </p:nvSpPr>
        <p:spPr>
          <a:xfrm>
            <a:off x="7178040" y="3584448"/>
            <a:ext cx="1874520" cy="22860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2A202601257</a:t>
            </a:r>
            <a:endParaRPr lang="en-US" sz="1000" dirty="0"/>
          </a:p>
        </p:txBody>
      </p:sp>
      <p:sp>
        <p:nvSpPr>
          <p:cNvPr id="24" name="Text 22"/>
          <p:cNvSpPr/>
          <p:nvPr/>
        </p:nvSpPr>
        <p:spPr>
          <a:xfrm>
            <a:off x="548640" y="4663440"/>
            <a:ext cx="8046720" cy="2743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Demo Day — VinUni AI20K Build Phase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Text 1"/>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Tam Giác Nan Giải của LLM</a:t>
            </a:r>
            <a:endParaRPr lang="en-US" sz="3000" dirty="0"/>
          </a:p>
        </p:txBody>
      </p:sp>
      <p:sp>
        <p:nvSpPr>
          <p:cNvPr id="4" name="Text 2"/>
          <p:cNvSpPr/>
          <p:nvPr/>
        </p:nvSpPr>
        <p:spPr>
          <a:xfrm>
            <a:off x="7772400" y="320040"/>
            <a:ext cx="1188720" cy="320040"/>
          </a:xfrm>
          <a:prstGeom prst="rect">
            <a:avLst/>
          </a:prstGeom>
          <a:noFill/>
          <a:ln/>
        </p:spPr>
        <p:txBody>
          <a:bodyPr wrap="square" rtlCol="0" anchor="ctr"/>
          <a:lstStyle/>
          <a:p>
            <a:pPr marL="0" indent="0" algn="r">
              <a:buNone/>
            </a:pPr>
            <a:r>
              <a:rPr lang="en-US" sz="1100" b="1" dirty="0">
                <a:solidFill>
                  <a:srgbClr val="00D4FF"/>
                </a:solidFill>
                <a:latin typeface="Calibri" pitchFamily="34" charset="0"/>
                <a:ea typeface="Calibri" pitchFamily="34" charset="-122"/>
                <a:cs typeface="Calibri" pitchFamily="34" charset="-120"/>
              </a:rPr>
              <a:t>PROBLEM</a:t>
            </a:r>
            <a:endParaRPr lang="en-US" sz="1100" dirty="0"/>
          </a:p>
        </p:txBody>
      </p:sp>
      <p:sp>
        <p:nvSpPr>
          <p:cNvPr id="5" name="Shape 3"/>
          <p:cNvSpPr/>
          <p:nvPr/>
        </p:nvSpPr>
        <p:spPr>
          <a:xfrm>
            <a:off x="457200" y="868680"/>
            <a:ext cx="8229600" cy="0"/>
          </a:xfrm>
          <a:prstGeom prst="line">
            <a:avLst/>
          </a:prstGeom>
          <a:noFill/>
          <a:ln w="12700">
            <a:solidFill>
              <a:srgbClr val="7C3AED"/>
            </a:solidFill>
            <a:prstDash val="solid"/>
          </a:ln>
        </p:spPr>
      </p:sp>
      <p:sp>
        <p:nvSpPr>
          <p:cNvPr id="6" name="Shape 4"/>
          <p:cNvSpPr/>
          <p:nvPr/>
        </p:nvSpPr>
        <p:spPr>
          <a:xfrm>
            <a:off x="457200" y="1005840"/>
            <a:ext cx="1828800" cy="1188720"/>
          </a:xfrm>
          <a:prstGeom prst="roundRect">
            <a:avLst>
              <a:gd name="adj" fmla="val 9231"/>
            </a:avLst>
          </a:prstGeom>
          <a:solidFill>
            <a:srgbClr val="1A0A00"/>
          </a:solidFill>
          <a:ln w="12700">
            <a:solidFill>
              <a:srgbClr val="1F2937"/>
            </a:solidFill>
            <a:prstDash val="solid"/>
          </a:ln>
        </p:spPr>
      </p:sp>
      <p:sp>
        <p:nvSpPr>
          <p:cNvPr id="7" name="Text 5"/>
          <p:cNvSpPr/>
          <p:nvPr/>
        </p:nvSpPr>
        <p:spPr>
          <a:xfrm>
            <a:off x="457200" y="1051560"/>
            <a:ext cx="1828800" cy="594360"/>
          </a:xfrm>
          <a:prstGeom prst="rect">
            <a:avLst/>
          </a:prstGeom>
          <a:noFill/>
          <a:ln/>
        </p:spPr>
        <p:txBody>
          <a:bodyPr wrap="square" rtlCol="0" anchor="ctr"/>
          <a:lstStyle/>
          <a:p>
            <a:pPr marL="0" indent="0" algn="ctr">
              <a:buNone/>
            </a:pPr>
            <a:r>
              <a:rPr lang="en-US" sz="3000" b="1" dirty="0">
                <a:solidFill>
                  <a:srgbClr val="F59E0B"/>
                </a:solidFill>
                <a:latin typeface="Cambria" pitchFamily="34" charset="0"/>
                <a:ea typeface="Cambria" pitchFamily="34" charset="-122"/>
                <a:cs typeface="Cambria" pitchFamily="34" charset="-120"/>
              </a:rPr>
              <a:t>25x–50x</a:t>
            </a:r>
            <a:endParaRPr lang="en-US" sz="3000" dirty="0"/>
          </a:p>
        </p:txBody>
      </p:sp>
      <p:sp>
        <p:nvSpPr>
          <p:cNvPr id="8" name="Text 6"/>
          <p:cNvSpPr/>
          <p:nvPr/>
        </p:nvSpPr>
        <p:spPr>
          <a:xfrm>
            <a:off x="457200" y="1645920"/>
            <a:ext cx="1828800" cy="45720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biến động chi phí</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Frontier vs. Mini model</a:t>
            </a:r>
            <a:endParaRPr lang="en-US" sz="1000" dirty="0"/>
          </a:p>
        </p:txBody>
      </p:sp>
      <p:sp>
        <p:nvSpPr>
          <p:cNvPr id="9" name="Shape 7"/>
          <p:cNvSpPr/>
          <p:nvPr/>
        </p:nvSpPr>
        <p:spPr>
          <a:xfrm>
            <a:off x="2468880" y="1005840"/>
            <a:ext cx="1828800" cy="1188720"/>
          </a:xfrm>
          <a:prstGeom prst="roundRect">
            <a:avLst>
              <a:gd name="adj" fmla="val 9231"/>
            </a:avLst>
          </a:prstGeom>
          <a:solidFill>
            <a:srgbClr val="0A1A0A"/>
          </a:solidFill>
          <a:ln w="12700">
            <a:solidFill>
              <a:srgbClr val="1F2937"/>
            </a:solidFill>
            <a:prstDash val="solid"/>
          </a:ln>
        </p:spPr>
      </p:sp>
      <p:sp>
        <p:nvSpPr>
          <p:cNvPr id="10" name="Text 8"/>
          <p:cNvSpPr/>
          <p:nvPr/>
        </p:nvSpPr>
        <p:spPr>
          <a:xfrm>
            <a:off x="2468880" y="1051560"/>
            <a:ext cx="1828800" cy="594360"/>
          </a:xfrm>
          <a:prstGeom prst="rect">
            <a:avLst/>
          </a:prstGeom>
          <a:noFill/>
          <a:ln/>
        </p:spPr>
        <p:txBody>
          <a:bodyPr wrap="square" rtlCol="0" anchor="ctr"/>
          <a:lstStyle/>
          <a:p>
            <a:pPr marL="0" indent="0" algn="ctr">
              <a:buNone/>
            </a:pPr>
            <a:r>
              <a:rPr lang="en-US" sz="3000" b="1" dirty="0">
                <a:solidFill>
                  <a:srgbClr val="10B981"/>
                </a:solidFill>
                <a:latin typeface="Cambria" pitchFamily="34" charset="0"/>
                <a:ea typeface="Cambria" pitchFamily="34" charset="-122"/>
                <a:cs typeface="Cambria" pitchFamily="34" charset="-120"/>
              </a:rPr>
              <a:t>60–70%</a:t>
            </a:r>
            <a:endParaRPr lang="en-US" sz="3000" dirty="0"/>
          </a:p>
        </p:txBody>
      </p:sp>
      <p:sp>
        <p:nvSpPr>
          <p:cNvPr id="11" name="Text 9"/>
          <p:cNvSpPr/>
          <p:nvPr/>
        </p:nvSpPr>
        <p:spPr>
          <a:xfrm>
            <a:off x="2468880" y="1645920"/>
            <a:ext cx="1828800" cy="45720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request đơn giản bị</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gửi tới model đắt tiền</a:t>
            </a:r>
            <a:endParaRPr lang="en-US" sz="1000" dirty="0"/>
          </a:p>
        </p:txBody>
      </p:sp>
      <p:sp>
        <p:nvSpPr>
          <p:cNvPr id="12" name="Shape 10"/>
          <p:cNvSpPr/>
          <p:nvPr/>
        </p:nvSpPr>
        <p:spPr>
          <a:xfrm>
            <a:off x="4480560" y="1005840"/>
            <a:ext cx="1828800" cy="1188720"/>
          </a:xfrm>
          <a:prstGeom prst="roundRect">
            <a:avLst>
              <a:gd name="adj" fmla="val 9231"/>
            </a:avLst>
          </a:prstGeom>
          <a:solidFill>
            <a:srgbClr val="1A0A0A"/>
          </a:solidFill>
          <a:ln w="12700">
            <a:solidFill>
              <a:srgbClr val="1F2937"/>
            </a:solidFill>
            <a:prstDash val="solid"/>
          </a:ln>
        </p:spPr>
      </p:sp>
      <p:sp>
        <p:nvSpPr>
          <p:cNvPr id="13" name="Text 11"/>
          <p:cNvSpPr/>
          <p:nvPr/>
        </p:nvSpPr>
        <p:spPr>
          <a:xfrm>
            <a:off x="4480560" y="1051560"/>
            <a:ext cx="1828800" cy="594360"/>
          </a:xfrm>
          <a:prstGeom prst="rect">
            <a:avLst/>
          </a:prstGeom>
          <a:noFill/>
          <a:ln/>
        </p:spPr>
        <p:txBody>
          <a:bodyPr wrap="square" rtlCol="0" anchor="ctr"/>
          <a:lstStyle/>
          <a:p>
            <a:pPr marL="0" indent="0" algn="ctr">
              <a:buNone/>
            </a:pPr>
            <a:r>
              <a:rPr lang="en-US" sz="3000" b="1" dirty="0">
                <a:solidFill>
                  <a:srgbClr val="EF4444"/>
                </a:solidFill>
                <a:latin typeface="Cambria" pitchFamily="34" charset="0"/>
                <a:ea typeface="Cambria" pitchFamily="34" charset="-122"/>
                <a:cs typeface="Cambria" pitchFamily="34" charset="-120"/>
              </a:rPr>
              <a:t>100%</a:t>
            </a:r>
            <a:endParaRPr lang="en-US" sz="3000" dirty="0"/>
          </a:p>
        </p:txBody>
      </p:sp>
      <p:sp>
        <p:nvSpPr>
          <p:cNvPr id="14" name="Text 12"/>
          <p:cNvSpPr/>
          <p:nvPr/>
        </p:nvSpPr>
        <p:spPr>
          <a:xfrm>
            <a:off x="4480560" y="1645920"/>
            <a:ext cx="1828800" cy="45720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downtime nếu</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phụ thuộc 1 provider</a:t>
            </a:r>
            <a:endParaRPr lang="en-US" sz="1000" dirty="0"/>
          </a:p>
        </p:txBody>
      </p:sp>
      <p:sp>
        <p:nvSpPr>
          <p:cNvPr id="15" name="Shape 13"/>
          <p:cNvSpPr/>
          <p:nvPr/>
        </p:nvSpPr>
        <p:spPr>
          <a:xfrm>
            <a:off x="6446520" y="960120"/>
            <a:ext cx="2194560" cy="1280160"/>
          </a:xfrm>
          <a:prstGeom prst="roundRect">
            <a:avLst>
              <a:gd name="adj" fmla="val 8571"/>
            </a:avLst>
          </a:prstGeom>
          <a:solidFill>
            <a:srgbClr val="161B22"/>
          </a:solidFill>
          <a:ln w="12700">
            <a:solidFill>
              <a:srgbClr val="1F2937"/>
            </a:solidFill>
            <a:prstDash val="solid"/>
          </a:ln>
        </p:spPr>
      </p:sp>
      <p:sp>
        <p:nvSpPr>
          <p:cNvPr id="16" name="Text 14"/>
          <p:cNvSpPr/>
          <p:nvPr/>
        </p:nvSpPr>
        <p:spPr>
          <a:xfrm>
            <a:off x="6446520" y="1005840"/>
            <a:ext cx="2194560" cy="1188720"/>
          </a:xfrm>
          <a:prstGeom prst="rect">
            <a:avLst/>
          </a:prstGeom>
          <a:noFill/>
          <a:ln/>
        </p:spPr>
        <p:txBody>
          <a:bodyPr wrap="square" rtlCol="0" anchor="ctr"/>
          <a:lstStyle/>
          <a:p>
            <a:pPr marL="0" indent="0" algn="ctr">
              <a:buNone/>
            </a:pPr>
            <a:r>
              <a:rPr lang="en-US" sz="1300" b="1" dirty="0">
                <a:solidFill>
                  <a:srgbClr val="00D4FF"/>
                </a:solidFill>
                <a:latin typeface="Calibri" pitchFamily="34" charset="0"/>
                <a:ea typeface="Calibri" pitchFamily="34" charset="-122"/>
                <a:cs typeface="Calibri" pitchFamily="34" charset="-120"/>
              </a:rPr>
              <a:t>💰 Chi phí</a:t>
            </a:r>
            <a:endParaRPr lang="en-US" sz="1300" dirty="0"/>
          </a:p>
          <a:p>
            <a:pPr marL="0" indent="0" algn="ctr">
              <a:buNone/>
            </a:pPr>
            <a:r>
              <a:rPr lang="en-US" sz="1300" b="1" dirty="0">
                <a:solidFill>
                  <a:srgbClr val="00D4FF"/>
                </a:solidFill>
                <a:latin typeface="Calibri" pitchFamily="34" charset="0"/>
                <a:ea typeface="Calibri" pitchFamily="34" charset="-122"/>
                <a:cs typeface="Calibri" pitchFamily="34" charset="-120"/>
              </a:rPr>
              <a:t>⚡ Tốc độ</a:t>
            </a:r>
            <a:endParaRPr lang="en-US" sz="1300" dirty="0"/>
          </a:p>
          <a:p>
            <a:pPr marL="0" indent="0" algn="ctr">
              <a:buNone/>
            </a:pPr>
            <a:r>
              <a:rPr lang="en-US" sz="1300" b="1" dirty="0">
                <a:solidFill>
                  <a:srgbClr val="00D4FF"/>
                </a:solidFill>
                <a:latin typeface="Calibri" pitchFamily="34" charset="0"/>
                <a:ea typeface="Calibri" pitchFamily="34" charset="-122"/>
                <a:cs typeface="Calibri" pitchFamily="34" charset="-120"/>
              </a:rPr>
              <a:t>🎯 Chất lượng</a:t>
            </a:r>
            <a:endParaRPr lang="en-US" sz="1300" dirty="0"/>
          </a:p>
        </p:txBody>
      </p:sp>
      <p:sp>
        <p:nvSpPr>
          <p:cNvPr id="17" name="Shape 15"/>
          <p:cNvSpPr/>
          <p:nvPr/>
        </p:nvSpPr>
        <p:spPr>
          <a:xfrm>
            <a:off x="457200" y="2377440"/>
            <a:ext cx="8229600" cy="713232"/>
          </a:xfrm>
          <a:prstGeom prst="roundRect">
            <a:avLst>
              <a:gd name="adj" fmla="val 15385"/>
            </a:avLst>
          </a:prstGeom>
          <a:solidFill>
            <a:srgbClr val="161B22"/>
          </a:solidFill>
          <a:ln w="12700">
            <a:solidFill>
              <a:srgbClr val="1F2937"/>
            </a:solidFill>
            <a:prstDash val="solid"/>
          </a:ln>
        </p:spPr>
      </p:sp>
      <p:sp>
        <p:nvSpPr>
          <p:cNvPr id="18" name="Text 16"/>
          <p:cNvSpPr/>
          <p:nvPr/>
        </p:nvSpPr>
        <p:spPr>
          <a:xfrm>
            <a:off x="594360" y="2514600"/>
            <a:ext cx="45720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19" name="Text 17"/>
          <p:cNvSpPr/>
          <p:nvPr/>
        </p:nvSpPr>
        <p:spPr>
          <a:xfrm>
            <a:off x="1188720" y="2468880"/>
            <a:ext cx="1828800" cy="27432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Chi phí Overkill</a:t>
            </a:r>
            <a:endParaRPr lang="en-US" sz="1300" dirty="0"/>
          </a:p>
        </p:txBody>
      </p:sp>
      <p:sp>
        <p:nvSpPr>
          <p:cNvPr id="20" name="Text 18"/>
          <p:cNvSpPr/>
          <p:nvPr/>
        </p:nvSpPr>
        <p:spPr>
          <a:xfrm>
            <a:off x="1188720" y="2724912"/>
            <a:ext cx="7223760" cy="27432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GPT-4o/Claude Opus đắt gấp 30x — nhưng lại được gọi cho cả tác vụ tóm tắt đoạn văn ngắn.</a:t>
            </a:r>
            <a:endParaRPr lang="en-US" sz="1200" dirty="0"/>
          </a:p>
        </p:txBody>
      </p:sp>
      <p:sp>
        <p:nvSpPr>
          <p:cNvPr id="21" name="Shape 19"/>
          <p:cNvSpPr/>
          <p:nvPr/>
        </p:nvSpPr>
        <p:spPr>
          <a:xfrm>
            <a:off x="457200" y="3200400"/>
            <a:ext cx="8229600" cy="713232"/>
          </a:xfrm>
          <a:prstGeom prst="roundRect">
            <a:avLst>
              <a:gd name="adj" fmla="val 15385"/>
            </a:avLst>
          </a:prstGeom>
          <a:solidFill>
            <a:srgbClr val="161B22"/>
          </a:solidFill>
          <a:ln w="12700">
            <a:solidFill>
              <a:srgbClr val="1F2937"/>
            </a:solidFill>
            <a:prstDash val="solid"/>
          </a:ln>
        </p:spPr>
      </p:sp>
      <p:sp>
        <p:nvSpPr>
          <p:cNvPr id="22" name="Text 20"/>
          <p:cNvSpPr/>
          <p:nvPr/>
        </p:nvSpPr>
        <p:spPr>
          <a:xfrm>
            <a:off x="594360" y="3337560"/>
            <a:ext cx="45720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23" name="Text 21"/>
          <p:cNvSpPr/>
          <p:nvPr/>
        </p:nvSpPr>
        <p:spPr>
          <a:xfrm>
            <a:off x="1188720" y="3291840"/>
            <a:ext cx="1828800" cy="27432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Vendor Lock-in</a:t>
            </a:r>
            <a:endParaRPr lang="en-US" sz="1300" dirty="0"/>
          </a:p>
        </p:txBody>
      </p:sp>
      <p:sp>
        <p:nvSpPr>
          <p:cNvPr id="24" name="Text 22"/>
          <p:cNvSpPr/>
          <p:nvPr/>
        </p:nvSpPr>
        <p:spPr>
          <a:xfrm>
            <a:off x="1188720" y="3547872"/>
            <a:ext cx="7223760" cy="27432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Rate limit 429 và downtime từ 1 nhà cung cấp làm toàn bộ ứng dụng gián đoạn.</a:t>
            </a:r>
            <a:endParaRPr lang="en-US" sz="1200" dirty="0"/>
          </a:p>
        </p:txBody>
      </p:sp>
      <p:sp>
        <p:nvSpPr>
          <p:cNvPr id="25" name="Shape 23"/>
          <p:cNvSpPr/>
          <p:nvPr/>
        </p:nvSpPr>
        <p:spPr>
          <a:xfrm>
            <a:off x="457200" y="4023360"/>
            <a:ext cx="8229600" cy="713232"/>
          </a:xfrm>
          <a:prstGeom prst="roundRect">
            <a:avLst>
              <a:gd name="adj" fmla="val 15385"/>
            </a:avLst>
          </a:prstGeom>
          <a:solidFill>
            <a:srgbClr val="161B22"/>
          </a:solidFill>
          <a:ln w="12700">
            <a:solidFill>
              <a:srgbClr val="1F2937"/>
            </a:solidFill>
            <a:prstDash val="solid"/>
          </a:ln>
        </p:spPr>
      </p:sp>
      <p:sp>
        <p:nvSpPr>
          <p:cNvPr id="26" name="Text 24"/>
          <p:cNvSpPr/>
          <p:nvPr/>
        </p:nvSpPr>
        <p:spPr>
          <a:xfrm>
            <a:off x="594360" y="4160520"/>
            <a:ext cx="45720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27" name="Text 25"/>
          <p:cNvSpPr/>
          <p:nvPr/>
        </p:nvSpPr>
        <p:spPr>
          <a:xfrm>
            <a:off x="1188720" y="4114800"/>
            <a:ext cx="1828800" cy="27432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Bài toán đánh đổi</a:t>
            </a:r>
            <a:endParaRPr lang="en-US" sz="1300" dirty="0"/>
          </a:p>
        </p:txBody>
      </p:sp>
      <p:sp>
        <p:nvSpPr>
          <p:cNvPr id="28" name="Text 26"/>
          <p:cNvSpPr/>
          <p:nvPr/>
        </p:nvSpPr>
        <p:spPr>
          <a:xfrm>
            <a:off x="1188720" y="4370832"/>
            <a:ext cx="7223760" cy="27432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Model rẻ tiết kiệm tiền nhưng hallucination tăng — không có điểm cân bằng tự động.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Text 1"/>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SmartRoute: Drop-in LLM Router</a:t>
            </a:r>
            <a:endParaRPr lang="en-US" sz="3000" dirty="0"/>
          </a:p>
        </p:txBody>
      </p:sp>
      <p:sp>
        <p:nvSpPr>
          <p:cNvPr id="4" name="Text 2"/>
          <p:cNvSpPr/>
          <p:nvPr/>
        </p:nvSpPr>
        <p:spPr>
          <a:xfrm>
            <a:off x="7498080" y="320040"/>
            <a:ext cx="1463040" cy="320040"/>
          </a:xfrm>
          <a:prstGeom prst="rect">
            <a:avLst/>
          </a:prstGeom>
          <a:noFill/>
          <a:ln/>
        </p:spPr>
        <p:txBody>
          <a:bodyPr wrap="square" rtlCol="0" anchor="ctr"/>
          <a:lstStyle/>
          <a:p>
            <a:pPr marL="0" indent="0" algn="r">
              <a:buNone/>
            </a:pPr>
            <a:r>
              <a:rPr lang="en-US" sz="1100" b="1" dirty="0">
                <a:solidFill>
                  <a:srgbClr val="10B981"/>
                </a:solidFill>
                <a:latin typeface="Calibri" pitchFamily="34" charset="0"/>
                <a:ea typeface="Calibri" pitchFamily="34" charset="-122"/>
                <a:cs typeface="Calibri" pitchFamily="34" charset="-120"/>
              </a:rPr>
              <a:t>SOLUTION</a:t>
            </a:r>
            <a:endParaRPr lang="en-US" sz="1100" dirty="0"/>
          </a:p>
        </p:txBody>
      </p:sp>
      <p:sp>
        <p:nvSpPr>
          <p:cNvPr id="5" name="Shape 3"/>
          <p:cNvSpPr/>
          <p:nvPr/>
        </p:nvSpPr>
        <p:spPr>
          <a:xfrm>
            <a:off x="457200" y="868680"/>
            <a:ext cx="8229600" cy="0"/>
          </a:xfrm>
          <a:prstGeom prst="line">
            <a:avLst/>
          </a:prstGeom>
          <a:noFill/>
          <a:ln w="12700">
            <a:solidFill>
              <a:srgbClr val="10B981"/>
            </a:solidFill>
            <a:prstDash val="solid"/>
          </a:ln>
        </p:spPr>
      </p:sp>
      <p:sp>
        <p:nvSpPr>
          <p:cNvPr id="6" name="Shape 4"/>
          <p:cNvSpPr/>
          <p:nvPr/>
        </p:nvSpPr>
        <p:spPr>
          <a:xfrm>
            <a:off x="457200" y="1005840"/>
            <a:ext cx="3931920" cy="914400"/>
          </a:xfrm>
          <a:prstGeom prst="roundRect">
            <a:avLst>
              <a:gd name="adj" fmla="val 12000"/>
            </a:avLst>
          </a:prstGeom>
          <a:solidFill>
            <a:srgbClr val="161B22"/>
          </a:solidFill>
          <a:ln w="12700">
            <a:solidFill>
              <a:srgbClr val="1F2937"/>
            </a:solidFill>
            <a:prstDash val="solid"/>
          </a:ln>
        </p:spPr>
      </p:sp>
      <p:sp>
        <p:nvSpPr>
          <p:cNvPr id="7" name="Text 5"/>
          <p:cNvSpPr/>
          <p:nvPr/>
        </p:nvSpPr>
        <p:spPr>
          <a:xfrm>
            <a:off x="594360" y="1051560"/>
            <a:ext cx="3657600" cy="27432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Drop-in OpenAI Replacement</a:t>
            </a:r>
            <a:endParaRPr lang="en-US" sz="1300" dirty="0"/>
          </a:p>
        </p:txBody>
      </p:sp>
      <p:sp>
        <p:nvSpPr>
          <p:cNvPr id="8" name="Text 6"/>
          <p:cNvSpPr/>
          <p:nvPr/>
        </p:nvSpPr>
        <p:spPr>
          <a:xfrm>
            <a:off x="594360" y="1344168"/>
            <a:ext cx="3657600" cy="32004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Chỉ đổi base_url → SmartRoute. Không sửa một dòng code nào.</a:t>
            </a:r>
            <a:endParaRPr lang="en-US" sz="1100" dirty="0"/>
          </a:p>
        </p:txBody>
      </p:sp>
      <p:sp>
        <p:nvSpPr>
          <p:cNvPr id="9" name="Shape 7"/>
          <p:cNvSpPr/>
          <p:nvPr/>
        </p:nvSpPr>
        <p:spPr>
          <a:xfrm>
            <a:off x="457200" y="2011680"/>
            <a:ext cx="2423160" cy="960120"/>
          </a:xfrm>
          <a:prstGeom prst="roundRect">
            <a:avLst>
              <a:gd name="adj" fmla="val 11429"/>
            </a:avLst>
          </a:prstGeom>
          <a:solidFill>
            <a:srgbClr val="0A2A1A"/>
          </a:solidFill>
          <a:ln w="12700">
            <a:solidFill>
              <a:srgbClr val="1F2937"/>
            </a:solidFill>
            <a:prstDash val="solid"/>
          </a:ln>
        </p:spPr>
      </p:sp>
      <p:sp>
        <p:nvSpPr>
          <p:cNvPr id="10" name="Text 8"/>
          <p:cNvSpPr/>
          <p:nvPr/>
        </p:nvSpPr>
        <p:spPr>
          <a:xfrm>
            <a:off x="548640" y="2057400"/>
            <a:ext cx="2240280" cy="292608"/>
          </a:xfrm>
          <a:prstGeom prst="rect">
            <a:avLst/>
          </a:prstGeom>
          <a:noFill/>
          <a:ln/>
        </p:spPr>
        <p:txBody>
          <a:bodyPr wrap="square" rtlCol="0" anchor="ctr"/>
          <a:lstStyle/>
          <a:p>
            <a:pPr marL="0" indent="0" algn="ctr">
              <a:buNone/>
            </a:pPr>
            <a:r>
              <a:rPr lang="en-US" sz="1400" b="1" dirty="0">
                <a:solidFill>
                  <a:srgbClr val="10B981"/>
                </a:solidFill>
                <a:latin typeface="Cambria" pitchFamily="34" charset="0"/>
                <a:ea typeface="Cambria" pitchFamily="34" charset="-122"/>
                <a:cs typeface="Cambria" pitchFamily="34" charset="-120"/>
              </a:rPr>
              <a:t>T1  Easy</a:t>
            </a:r>
            <a:endParaRPr lang="en-US" sz="1400" dirty="0"/>
          </a:p>
        </p:txBody>
      </p:sp>
      <p:sp>
        <p:nvSpPr>
          <p:cNvPr id="11" name="Text 9"/>
          <p:cNvSpPr/>
          <p:nvPr/>
        </p:nvSpPr>
        <p:spPr>
          <a:xfrm>
            <a:off x="548640" y="2359152"/>
            <a:ext cx="2240280" cy="502920"/>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Heuristic Fast</a:t>
            </a:r>
            <a:endParaRPr lang="en-US" sz="1050" dirty="0"/>
          </a:p>
          <a:p>
            <a:pPr marL="0" indent="0" algn="ctr">
              <a:buNone/>
            </a:pPr>
            <a:r>
              <a:rPr lang="en-US" sz="1050" dirty="0">
                <a:solidFill>
                  <a:srgbClr val="CBD5E1"/>
                </a:solidFill>
                <a:latin typeface="Calibri" pitchFamily="34" charset="0"/>
                <a:ea typeface="Calibri" pitchFamily="34" charset="-122"/>
                <a:cs typeface="Calibri" pitchFamily="34" charset="-120"/>
              </a:rPr>
              <a:t>0.5 ms / $0 cost</a:t>
            </a:r>
            <a:endParaRPr lang="en-US" sz="1050" dirty="0"/>
          </a:p>
        </p:txBody>
      </p:sp>
      <p:sp>
        <p:nvSpPr>
          <p:cNvPr id="12" name="Shape 10"/>
          <p:cNvSpPr/>
          <p:nvPr/>
        </p:nvSpPr>
        <p:spPr>
          <a:xfrm>
            <a:off x="3108960" y="2011680"/>
            <a:ext cx="2423160" cy="960120"/>
          </a:xfrm>
          <a:prstGeom prst="roundRect">
            <a:avLst>
              <a:gd name="adj" fmla="val 11429"/>
            </a:avLst>
          </a:prstGeom>
          <a:solidFill>
            <a:srgbClr val="2A1A00"/>
          </a:solidFill>
          <a:ln w="12700">
            <a:solidFill>
              <a:srgbClr val="1F2937"/>
            </a:solidFill>
            <a:prstDash val="solid"/>
          </a:ln>
        </p:spPr>
      </p:sp>
      <p:sp>
        <p:nvSpPr>
          <p:cNvPr id="13" name="Text 11"/>
          <p:cNvSpPr/>
          <p:nvPr/>
        </p:nvSpPr>
        <p:spPr>
          <a:xfrm>
            <a:off x="3200400" y="2057400"/>
            <a:ext cx="2240280" cy="292608"/>
          </a:xfrm>
          <a:prstGeom prst="rect">
            <a:avLst/>
          </a:prstGeom>
          <a:noFill/>
          <a:ln/>
        </p:spPr>
        <p:txBody>
          <a:bodyPr wrap="square" rtlCol="0" anchor="ctr"/>
          <a:lstStyle/>
          <a:p>
            <a:pPr marL="0" indent="0" algn="ctr">
              <a:buNone/>
            </a:pPr>
            <a:r>
              <a:rPr lang="en-US" sz="1400" b="1" dirty="0">
                <a:solidFill>
                  <a:srgbClr val="F59E0B"/>
                </a:solidFill>
                <a:latin typeface="Cambria" pitchFamily="34" charset="0"/>
                <a:ea typeface="Cambria" pitchFamily="34" charset="-122"/>
                <a:cs typeface="Cambria" pitchFamily="34" charset="-120"/>
              </a:rPr>
              <a:t>T2  Medium</a:t>
            </a:r>
            <a:endParaRPr lang="en-US" sz="1400" dirty="0"/>
          </a:p>
        </p:txBody>
      </p:sp>
      <p:sp>
        <p:nvSpPr>
          <p:cNvPr id="14" name="Text 12"/>
          <p:cNvSpPr/>
          <p:nvPr/>
        </p:nvSpPr>
        <p:spPr>
          <a:xfrm>
            <a:off x="3200400" y="2359152"/>
            <a:ext cx="2240280" cy="502920"/>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Session Router</a:t>
            </a:r>
            <a:endParaRPr lang="en-US" sz="1050" dirty="0"/>
          </a:p>
          <a:p>
            <a:pPr marL="0" indent="0" algn="ctr">
              <a:buNone/>
            </a:pPr>
            <a:r>
              <a:rPr lang="en-US" sz="1050" dirty="0">
                <a:solidFill>
                  <a:srgbClr val="CBD5E1"/>
                </a:solidFill>
                <a:latin typeface="Calibri" pitchFamily="34" charset="0"/>
                <a:ea typeface="Calibri" pitchFamily="34" charset="-122"/>
                <a:cs typeface="Calibri" pitchFamily="34" charset="-120"/>
              </a:rPr>
              <a:t>LLM Classifier</a:t>
            </a:r>
            <a:endParaRPr lang="en-US" sz="1050" dirty="0"/>
          </a:p>
        </p:txBody>
      </p:sp>
      <p:sp>
        <p:nvSpPr>
          <p:cNvPr id="15" name="Shape 13"/>
          <p:cNvSpPr/>
          <p:nvPr/>
        </p:nvSpPr>
        <p:spPr>
          <a:xfrm>
            <a:off x="5760720" y="2011680"/>
            <a:ext cx="2423160" cy="960120"/>
          </a:xfrm>
          <a:prstGeom prst="roundRect">
            <a:avLst>
              <a:gd name="adj" fmla="val 11429"/>
            </a:avLst>
          </a:prstGeom>
          <a:solidFill>
            <a:srgbClr val="2A0A0A"/>
          </a:solidFill>
          <a:ln w="12700">
            <a:solidFill>
              <a:srgbClr val="1F2937"/>
            </a:solidFill>
            <a:prstDash val="solid"/>
          </a:ln>
        </p:spPr>
      </p:sp>
      <p:sp>
        <p:nvSpPr>
          <p:cNvPr id="16" name="Text 14"/>
          <p:cNvSpPr/>
          <p:nvPr/>
        </p:nvSpPr>
        <p:spPr>
          <a:xfrm>
            <a:off x="5852160" y="2057400"/>
            <a:ext cx="2240280" cy="292608"/>
          </a:xfrm>
          <a:prstGeom prst="rect">
            <a:avLst/>
          </a:prstGeom>
          <a:noFill/>
          <a:ln/>
        </p:spPr>
        <p:txBody>
          <a:bodyPr wrap="square" rtlCol="0" anchor="ctr"/>
          <a:lstStyle/>
          <a:p>
            <a:pPr marL="0" indent="0" algn="ctr">
              <a:buNone/>
            </a:pPr>
            <a:r>
              <a:rPr lang="en-US" sz="1400" b="1" dirty="0">
                <a:solidFill>
                  <a:srgbClr val="EF4444"/>
                </a:solidFill>
                <a:latin typeface="Cambria" pitchFamily="34" charset="0"/>
                <a:ea typeface="Cambria" pitchFamily="34" charset="-122"/>
                <a:cs typeface="Cambria" pitchFamily="34" charset="-120"/>
              </a:rPr>
              <a:t>T3  Hard</a:t>
            </a:r>
            <a:endParaRPr lang="en-US" sz="1400" dirty="0"/>
          </a:p>
        </p:txBody>
      </p:sp>
      <p:sp>
        <p:nvSpPr>
          <p:cNvPr id="17" name="Text 15"/>
          <p:cNvSpPr/>
          <p:nvPr/>
        </p:nvSpPr>
        <p:spPr>
          <a:xfrm>
            <a:off x="5852160" y="2359152"/>
            <a:ext cx="2240280" cy="502920"/>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GPT-4o / Claude</a:t>
            </a:r>
            <a:endParaRPr lang="en-US" sz="1050" dirty="0"/>
          </a:p>
          <a:p>
            <a:pPr marL="0" indent="0" algn="ctr">
              <a:buNone/>
            </a:pPr>
            <a:r>
              <a:rPr lang="en-US" sz="1050" dirty="0">
                <a:solidFill>
                  <a:srgbClr val="CBD5E1"/>
                </a:solidFill>
                <a:latin typeface="Calibri" pitchFamily="34" charset="0"/>
                <a:ea typeface="Calibri" pitchFamily="34" charset="-122"/>
                <a:cs typeface="Calibri" pitchFamily="34" charset="-120"/>
              </a:rPr>
              <a:t>Math, Code, Logic</a:t>
            </a:r>
            <a:endParaRPr lang="en-US" sz="1050" dirty="0"/>
          </a:p>
        </p:txBody>
      </p:sp>
      <p:sp>
        <p:nvSpPr>
          <p:cNvPr id="18" name="Text 16"/>
          <p:cNvSpPr/>
          <p:nvPr/>
        </p:nvSpPr>
        <p:spPr>
          <a:xfrm>
            <a:off x="457200" y="3090672"/>
            <a:ext cx="466344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Chính sách định tuyến linh hoạt:</a:t>
            </a:r>
            <a:endParaRPr lang="en-US" sz="1200" dirty="0"/>
          </a:p>
        </p:txBody>
      </p:sp>
      <p:sp>
        <p:nvSpPr>
          <p:cNvPr id="19" name="Shape 17"/>
          <p:cNvSpPr/>
          <p:nvPr/>
        </p:nvSpPr>
        <p:spPr>
          <a:xfrm>
            <a:off x="502920" y="3465576"/>
            <a:ext cx="155448" cy="155448"/>
          </a:xfrm>
          <a:prstGeom prst="ellipse">
            <a:avLst/>
          </a:prstGeom>
          <a:solidFill>
            <a:srgbClr val="10B981"/>
          </a:solidFill>
          <a:ln w="12700">
            <a:solidFill>
              <a:srgbClr val="10B981"/>
            </a:solidFill>
            <a:prstDash val="solid"/>
          </a:ln>
        </p:spPr>
      </p:sp>
      <p:sp>
        <p:nvSpPr>
          <p:cNvPr id="20" name="Text 18"/>
          <p:cNvSpPr/>
          <p:nvPr/>
        </p:nvSpPr>
        <p:spPr>
          <a:xfrm>
            <a:off x="749808" y="3401568"/>
            <a:ext cx="4297680" cy="32004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cost_first  —  Tối đa hóa tiết kiệm ngân sách</a:t>
            </a:r>
            <a:endParaRPr lang="en-US" sz="1100" dirty="0"/>
          </a:p>
        </p:txBody>
      </p:sp>
      <p:sp>
        <p:nvSpPr>
          <p:cNvPr id="21" name="Shape 19"/>
          <p:cNvSpPr/>
          <p:nvPr/>
        </p:nvSpPr>
        <p:spPr>
          <a:xfrm>
            <a:off x="502920" y="3922776"/>
            <a:ext cx="155448" cy="155448"/>
          </a:xfrm>
          <a:prstGeom prst="ellipse">
            <a:avLst/>
          </a:prstGeom>
          <a:solidFill>
            <a:srgbClr val="00D4FF"/>
          </a:solidFill>
          <a:ln w="12700">
            <a:solidFill>
              <a:srgbClr val="00D4FF"/>
            </a:solidFill>
            <a:prstDash val="solid"/>
          </a:ln>
        </p:spPr>
      </p:sp>
      <p:sp>
        <p:nvSpPr>
          <p:cNvPr id="22" name="Text 20"/>
          <p:cNvSpPr/>
          <p:nvPr/>
        </p:nvSpPr>
        <p:spPr>
          <a:xfrm>
            <a:off x="749808" y="3858768"/>
            <a:ext cx="4297680" cy="32004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balanced  —  Cân bằng tốc độ, chính xác &amp; chi phí</a:t>
            </a:r>
            <a:endParaRPr lang="en-US" sz="1100" dirty="0"/>
          </a:p>
        </p:txBody>
      </p:sp>
      <p:sp>
        <p:nvSpPr>
          <p:cNvPr id="23" name="Shape 21"/>
          <p:cNvSpPr/>
          <p:nvPr/>
        </p:nvSpPr>
        <p:spPr>
          <a:xfrm>
            <a:off x="502920" y="4379976"/>
            <a:ext cx="155448" cy="155448"/>
          </a:xfrm>
          <a:prstGeom prst="ellipse">
            <a:avLst/>
          </a:prstGeom>
          <a:solidFill>
            <a:srgbClr val="F59E0B"/>
          </a:solidFill>
          <a:ln w="12700">
            <a:solidFill>
              <a:srgbClr val="F59E0B"/>
            </a:solidFill>
            <a:prstDash val="solid"/>
          </a:ln>
        </p:spPr>
      </p:sp>
      <p:sp>
        <p:nvSpPr>
          <p:cNvPr id="24" name="Text 22"/>
          <p:cNvSpPr/>
          <p:nvPr/>
        </p:nvSpPr>
        <p:spPr>
          <a:xfrm>
            <a:off x="749808" y="4315968"/>
            <a:ext cx="4297680" cy="32004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quality_first  —  Độ chính xác tối đa cho bài toán phức tạp</a:t>
            </a:r>
            <a:endParaRPr lang="en-US" sz="1100" dirty="0"/>
          </a:p>
        </p:txBody>
      </p:sp>
      <p:sp>
        <p:nvSpPr>
          <p:cNvPr id="25" name="Shape 23"/>
          <p:cNvSpPr/>
          <p:nvPr/>
        </p:nvSpPr>
        <p:spPr>
          <a:xfrm>
            <a:off x="5303520" y="3017520"/>
            <a:ext cx="3383280" cy="2011680"/>
          </a:xfrm>
          <a:prstGeom prst="roundRect">
            <a:avLst>
              <a:gd name="adj" fmla="val 5455"/>
            </a:avLst>
          </a:prstGeom>
          <a:solidFill>
            <a:srgbClr val="0A1020"/>
          </a:solidFill>
          <a:ln w="12700">
            <a:solidFill>
              <a:srgbClr val="1F2937"/>
            </a:solidFill>
            <a:prstDash val="solid"/>
          </a:ln>
        </p:spPr>
      </p:sp>
      <p:sp>
        <p:nvSpPr>
          <p:cNvPr id="26" name="Text 24"/>
          <p:cNvSpPr/>
          <p:nvPr/>
        </p:nvSpPr>
        <p:spPr>
          <a:xfrm>
            <a:off x="5440680" y="3072384"/>
            <a:ext cx="3108960" cy="292608"/>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Fail-safe Fallback</a:t>
            </a:r>
            <a:endParaRPr lang="en-US" sz="1300" dirty="0"/>
          </a:p>
        </p:txBody>
      </p:sp>
      <p:sp>
        <p:nvSpPr>
          <p:cNvPr id="27" name="Text 25"/>
          <p:cNvSpPr/>
          <p:nvPr/>
        </p:nvSpPr>
        <p:spPr>
          <a:xfrm>
            <a:off x="5440680" y="3401568"/>
            <a:ext cx="3108960" cy="256032"/>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Gemini → Groq → OpenAI → Ollama</a:t>
            </a:r>
            <a:endParaRPr lang="en-US" sz="1100" dirty="0"/>
          </a:p>
        </p:txBody>
      </p:sp>
      <p:sp>
        <p:nvSpPr>
          <p:cNvPr id="28" name="Text 26"/>
          <p:cNvSpPr/>
          <p:nvPr/>
        </p:nvSpPr>
        <p:spPr>
          <a:xfrm>
            <a:off x="5440680" y="3712464"/>
            <a:ext cx="3108960" cy="100584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Tự động chuyển provider dự phòng</a:t>
            </a:r>
            <a:endParaRPr lang="en-US" sz="1100" dirty="0"/>
          </a:p>
          <a:p>
            <a:pPr marL="0" indent="0">
              <a:buNone/>
            </a:pPr>
            <a:r>
              <a:rPr lang="en-US" sz="1100" dirty="0">
                <a:solidFill>
                  <a:srgbClr val="E2E8F0"/>
                </a:solidFill>
                <a:latin typeface="Calibri" pitchFamily="34" charset="0"/>
                <a:ea typeface="Calibri" pitchFamily="34" charset="-122"/>
                <a:cs typeface="Calibri" pitchFamily="34" charset="-120"/>
              </a:rPr>
              <a:t>khi gặp lỗi 429/500 trong mili-giây.</a:t>
            </a:r>
            <a:endParaRPr lang="en-US" sz="1100" dirty="0"/>
          </a:p>
          <a:p>
            <a:pPr marL="0" indent="0">
              <a:buNone/>
            </a:pPr>
            <a:r>
              <a:rPr lang="en-US" sz="1100" dirty="0">
                <a:solidFill>
                  <a:srgbClr val="E2E8F0"/>
                </a:solidFill>
                <a:latin typeface="Calibri" pitchFamily="34" charset="0"/>
                <a:ea typeface="Calibri" pitchFamily="34" charset="-122"/>
                <a:cs typeface="Calibri" pitchFamily="34" charset="-120"/>
              </a:rPr>
              <a:t>Người dùng cuối không nhận ra gián đoạn.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Text 1"/>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Product Demo</a:t>
            </a:r>
            <a:endParaRPr lang="en-US" sz="3000" dirty="0"/>
          </a:p>
        </p:txBody>
      </p:sp>
      <p:sp>
        <p:nvSpPr>
          <p:cNvPr id="4" name="Text 2"/>
          <p:cNvSpPr/>
          <p:nvPr/>
        </p:nvSpPr>
        <p:spPr>
          <a:xfrm>
            <a:off x="8046720" y="320040"/>
            <a:ext cx="822960" cy="320040"/>
          </a:xfrm>
          <a:prstGeom prst="rect">
            <a:avLst/>
          </a:prstGeom>
          <a:noFill/>
          <a:ln/>
        </p:spPr>
        <p:txBody>
          <a:bodyPr wrap="square" rtlCol="0" anchor="ctr"/>
          <a:lstStyle/>
          <a:p>
            <a:pPr marL="0" indent="0" algn="r">
              <a:buNone/>
            </a:pPr>
            <a:r>
              <a:rPr lang="en-US" sz="1100" b="1" dirty="0">
                <a:solidFill>
                  <a:srgbClr val="F59E0B"/>
                </a:solidFill>
                <a:latin typeface="Calibri" pitchFamily="34" charset="0"/>
                <a:ea typeface="Calibri" pitchFamily="34" charset="-122"/>
                <a:cs typeface="Calibri" pitchFamily="34" charset="-120"/>
              </a:rPr>
              <a:t>DEMO</a:t>
            </a:r>
            <a:endParaRPr lang="en-US" sz="1100" dirty="0"/>
          </a:p>
        </p:txBody>
      </p:sp>
      <p:sp>
        <p:nvSpPr>
          <p:cNvPr id="5" name="Shape 3"/>
          <p:cNvSpPr/>
          <p:nvPr/>
        </p:nvSpPr>
        <p:spPr>
          <a:xfrm>
            <a:off x="457200" y="868680"/>
            <a:ext cx="8229600" cy="0"/>
          </a:xfrm>
          <a:prstGeom prst="line">
            <a:avLst/>
          </a:prstGeom>
          <a:noFill/>
          <a:ln w="12700">
            <a:solidFill>
              <a:srgbClr val="F59E0B"/>
            </a:solidFill>
            <a:prstDash val="solid"/>
          </a:ln>
        </p:spPr>
      </p:sp>
      <p:sp>
        <p:nvSpPr>
          <p:cNvPr id="6" name="Shape 4"/>
          <p:cNvSpPr/>
          <p:nvPr/>
        </p:nvSpPr>
        <p:spPr>
          <a:xfrm>
            <a:off x="457200" y="1005840"/>
            <a:ext cx="4160520" cy="1371600"/>
          </a:xfrm>
          <a:prstGeom prst="roundRect">
            <a:avLst>
              <a:gd name="adj" fmla="val 8000"/>
            </a:avLst>
          </a:prstGeom>
          <a:solidFill>
            <a:srgbClr val="161B22"/>
          </a:solidFill>
          <a:ln w="12700">
            <a:solidFill>
              <a:srgbClr val="1F2937"/>
            </a:solidFill>
            <a:prstDash val="solid"/>
          </a:ln>
        </p:spPr>
      </p:sp>
      <p:sp>
        <p:nvSpPr>
          <p:cNvPr id="7" name="Text 5"/>
          <p:cNvSpPr/>
          <p:nvPr/>
        </p:nvSpPr>
        <p:spPr>
          <a:xfrm>
            <a:off x="594360" y="1115568"/>
            <a:ext cx="388620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Interactive Playground</a:t>
            </a:r>
            <a:endParaRPr lang="en-US" sz="1300" dirty="0"/>
          </a:p>
        </p:txBody>
      </p:sp>
      <p:sp>
        <p:nvSpPr>
          <p:cNvPr id="8" name="Text 6"/>
          <p:cNvSpPr/>
          <p:nvPr/>
        </p:nvSpPr>
        <p:spPr>
          <a:xfrm>
            <a:off x="640080" y="1463040"/>
            <a:ext cx="3840480" cy="34747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Nhập prompt → Thấy ngay model được chọn, latency, token</a:t>
            </a:r>
            <a:endParaRPr lang="en-US" sz="1100" dirty="0"/>
          </a:p>
        </p:txBody>
      </p:sp>
      <p:sp>
        <p:nvSpPr>
          <p:cNvPr id="9" name="Text 7"/>
          <p:cNvSpPr/>
          <p:nvPr/>
        </p:nvSpPr>
        <p:spPr>
          <a:xfrm>
            <a:off x="640080" y="1847088"/>
            <a:ext cx="3840480" cy="34747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Header giải trình: X-SmartRoute-Tier / X-SmartRoute-Reason</a:t>
            </a:r>
            <a:endParaRPr lang="en-US" sz="1100" dirty="0"/>
          </a:p>
        </p:txBody>
      </p:sp>
      <p:sp>
        <p:nvSpPr>
          <p:cNvPr id="10" name="Shape 8"/>
          <p:cNvSpPr/>
          <p:nvPr/>
        </p:nvSpPr>
        <p:spPr>
          <a:xfrm>
            <a:off x="4800600" y="1005840"/>
            <a:ext cx="3886200" cy="1371600"/>
          </a:xfrm>
          <a:prstGeom prst="roundRect">
            <a:avLst>
              <a:gd name="adj" fmla="val 8000"/>
            </a:avLst>
          </a:prstGeom>
          <a:solidFill>
            <a:srgbClr val="161B22"/>
          </a:solidFill>
          <a:ln w="12700">
            <a:solidFill>
              <a:srgbClr val="1F2937"/>
            </a:solidFill>
            <a:prstDash val="solid"/>
          </a:ln>
        </p:spPr>
      </p:sp>
      <p:sp>
        <p:nvSpPr>
          <p:cNvPr id="11" name="Text 9"/>
          <p:cNvSpPr/>
          <p:nvPr/>
        </p:nvSpPr>
        <p:spPr>
          <a:xfrm>
            <a:off x="4937760" y="1115568"/>
            <a:ext cx="361188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Dynamic Policy Config</a:t>
            </a:r>
            <a:endParaRPr lang="en-US" sz="1300" dirty="0"/>
          </a:p>
        </p:txBody>
      </p:sp>
      <p:sp>
        <p:nvSpPr>
          <p:cNvPr id="12" name="Text 10"/>
          <p:cNvSpPr/>
          <p:nvPr/>
        </p:nvSpPr>
        <p:spPr>
          <a:xfrm>
            <a:off x="4983480" y="1463040"/>
            <a:ext cx="3566160" cy="34747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Tinh chỉnh trọng số chi phí / chất lượng theo thời gian thực</a:t>
            </a:r>
            <a:endParaRPr lang="en-US" sz="1100" dirty="0"/>
          </a:p>
        </p:txBody>
      </p:sp>
      <p:sp>
        <p:nvSpPr>
          <p:cNvPr id="13" name="Text 11"/>
          <p:cNvSpPr/>
          <p:nvPr/>
        </p:nvSpPr>
        <p:spPr>
          <a:xfrm>
            <a:off x="4983480" y="1847088"/>
            <a:ext cx="3566160" cy="34747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Không cần restart server — áp dụng ngay lập tức</a:t>
            </a:r>
            <a:endParaRPr lang="en-US" sz="1100" dirty="0"/>
          </a:p>
        </p:txBody>
      </p:sp>
      <p:sp>
        <p:nvSpPr>
          <p:cNvPr id="14" name="Shape 12"/>
          <p:cNvSpPr/>
          <p:nvPr/>
        </p:nvSpPr>
        <p:spPr>
          <a:xfrm>
            <a:off x="457200" y="2514600"/>
            <a:ext cx="4160520" cy="1371600"/>
          </a:xfrm>
          <a:prstGeom prst="roundRect">
            <a:avLst>
              <a:gd name="adj" fmla="val 8000"/>
            </a:avLst>
          </a:prstGeom>
          <a:solidFill>
            <a:srgbClr val="161B22"/>
          </a:solidFill>
          <a:ln w="12700">
            <a:solidFill>
              <a:srgbClr val="1F2937"/>
            </a:solidFill>
            <a:prstDash val="solid"/>
          </a:ln>
        </p:spPr>
      </p:sp>
      <p:sp>
        <p:nvSpPr>
          <p:cNvPr id="15" name="Text 13"/>
          <p:cNvSpPr/>
          <p:nvPr/>
        </p:nvSpPr>
        <p:spPr>
          <a:xfrm>
            <a:off x="594360" y="2624328"/>
            <a:ext cx="388620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Real-time Analytics Dashboard</a:t>
            </a:r>
            <a:endParaRPr lang="en-US" sz="1300" dirty="0"/>
          </a:p>
        </p:txBody>
      </p:sp>
      <p:sp>
        <p:nvSpPr>
          <p:cNvPr id="16" name="Text 14"/>
          <p:cNvSpPr/>
          <p:nvPr/>
        </p:nvSpPr>
        <p:spPr>
          <a:xfrm>
            <a:off x="640080" y="2971800"/>
            <a:ext cx="3840480" cy="34747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Chi phí tiết kiệm lũy kế, tổng token, latency P50/P95</a:t>
            </a:r>
            <a:endParaRPr lang="en-US" sz="1100" dirty="0"/>
          </a:p>
        </p:txBody>
      </p:sp>
      <p:sp>
        <p:nvSpPr>
          <p:cNvPr id="17" name="Text 15"/>
          <p:cNvSpPr/>
          <p:nvPr/>
        </p:nvSpPr>
        <p:spPr>
          <a:xfrm>
            <a:off x="640080" y="3355848"/>
            <a:ext cx="3840480" cy="34747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Tỷ lệ phân phối request theo model và Tier</a:t>
            </a:r>
            <a:endParaRPr lang="en-US" sz="1100" dirty="0"/>
          </a:p>
        </p:txBody>
      </p:sp>
      <p:sp>
        <p:nvSpPr>
          <p:cNvPr id="18" name="Shape 16"/>
          <p:cNvSpPr/>
          <p:nvPr/>
        </p:nvSpPr>
        <p:spPr>
          <a:xfrm>
            <a:off x="4800600" y="2514600"/>
            <a:ext cx="3886200" cy="1371600"/>
          </a:xfrm>
          <a:prstGeom prst="roundRect">
            <a:avLst>
              <a:gd name="adj" fmla="val 8000"/>
            </a:avLst>
          </a:prstGeom>
          <a:solidFill>
            <a:srgbClr val="161B22"/>
          </a:solidFill>
          <a:ln w="12700">
            <a:solidFill>
              <a:srgbClr val="1F2937"/>
            </a:solidFill>
            <a:prstDash val="solid"/>
          </a:ln>
        </p:spPr>
      </p:sp>
      <p:sp>
        <p:nvSpPr>
          <p:cNvPr id="19" name="Text 17"/>
          <p:cNvSpPr/>
          <p:nvPr/>
        </p:nvSpPr>
        <p:spPr>
          <a:xfrm>
            <a:off x="4937760" y="2624328"/>
            <a:ext cx="361188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API Key &amp; Rate Limiting</a:t>
            </a:r>
            <a:endParaRPr lang="en-US" sz="1300" dirty="0"/>
          </a:p>
        </p:txBody>
      </p:sp>
      <p:sp>
        <p:nvSpPr>
          <p:cNvPr id="20" name="Text 18"/>
          <p:cNvSpPr/>
          <p:nvPr/>
        </p:nvSpPr>
        <p:spPr>
          <a:xfrm>
            <a:off x="4983480" y="2971800"/>
            <a:ext cx="3566160" cy="34747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Cấp phát API key phân quyền cho từng client</a:t>
            </a:r>
            <a:endParaRPr lang="en-US" sz="1100" dirty="0"/>
          </a:p>
        </p:txBody>
      </p:sp>
      <p:sp>
        <p:nvSpPr>
          <p:cNvPr id="21" name="Text 19"/>
          <p:cNvSpPr/>
          <p:nvPr/>
        </p:nvSpPr>
        <p:spPr>
          <a:xfrm>
            <a:off x="4983480" y="3355848"/>
            <a:ext cx="3566160" cy="34747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Giới hạn quota ngân sách và tier per-key</a:t>
            </a:r>
            <a:endParaRPr lang="en-US" sz="1100" dirty="0"/>
          </a:p>
        </p:txBody>
      </p:sp>
      <p:sp>
        <p:nvSpPr>
          <p:cNvPr id="22" name="Shape 20"/>
          <p:cNvSpPr/>
          <p:nvPr/>
        </p:nvSpPr>
        <p:spPr>
          <a:xfrm>
            <a:off x="457200" y="4023360"/>
            <a:ext cx="8229600" cy="594360"/>
          </a:xfrm>
          <a:prstGeom prst="roundRect">
            <a:avLst>
              <a:gd name="adj" fmla="val 18462"/>
            </a:avLst>
          </a:prstGeom>
          <a:solidFill>
            <a:srgbClr val="0A1A2A"/>
          </a:solidFill>
          <a:ln w="12700">
            <a:solidFill>
              <a:srgbClr val="1F2937"/>
            </a:solidFill>
            <a:prstDash val="solid"/>
          </a:ln>
        </p:spPr>
      </p:sp>
      <p:sp>
        <p:nvSpPr>
          <p:cNvPr id="23" name="Text 21"/>
          <p:cNvSpPr/>
          <p:nvPr/>
        </p:nvSpPr>
        <p:spPr>
          <a:xfrm>
            <a:off x="457200" y="4069080"/>
            <a:ext cx="8229600" cy="502920"/>
          </a:xfrm>
          <a:prstGeom prst="rect">
            <a:avLst/>
          </a:prstGeom>
          <a:noFill/>
          <a:ln/>
        </p:spPr>
        <p:txBody>
          <a:bodyPr wrap="square"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  Live demo trực tiếp trên Vercel  •  Video backup sẵn sàng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Text 1"/>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Kiến Trúc Hệ Thống</a:t>
            </a:r>
            <a:endParaRPr lang="en-US" sz="3000" dirty="0"/>
          </a:p>
        </p:txBody>
      </p:sp>
      <p:sp>
        <p:nvSpPr>
          <p:cNvPr id="4" name="Shape 2"/>
          <p:cNvSpPr/>
          <p:nvPr/>
        </p:nvSpPr>
        <p:spPr>
          <a:xfrm>
            <a:off x="457200" y="868680"/>
            <a:ext cx="8229600" cy="0"/>
          </a:xfrm>
          <a:prstGeom prst="line">
            <a:avLst/>
          </a:prstGeom>
          <a:noFill/>
          <a:ln w="12700">
            <a:solidFill>
              <a:srgbClr val="00D4FF"/>
            </a:solidFill>
            <a:prstDash val="solid"/>
          </a:ln>
        </p:spPr>
      </p:sp>
      <p:sp>
        <p:nvSpPr>
          <p:cNvPr id="5" name="Shape 3"/>
          <p:cNvSpPr/>
          <p:nvPr/>
        </p:nvSpPr>
        <p:spPr>
          <a:xfrm>
            <a:off x="182880" y="1188720"/>
            <a:ext cx="1737360" cy="685800"/>
          </a:xfrm>
          <a:prstGeom prst="roundRect">
            <a:avLst>
              <a:gd name="adj" fmla="val 16000"/>
            </a:avLst>
          </a:prstGeom>
          <a:solidFill>
            <a:srgbClr val="1C3A5E"/>
          </a:solidFill>
          <a:ln w="12700">
            <a:solidFill>
              <a:srgbClr val="1F2937"/>
            </a:solidFill>
            <a:prstDash val="solid"/>
          </a:ln>
        </p:spPr>
      </p:sp>
      <p:sp>
        <p:nvSpPr>
          <p:cNvPr id="6" name="Text 4"/>
          <p:cNvSpPr/>
          <p:nvPr/>
        </p:nvSpPr>
        <p:spPr>
          <a:xfrm>
            <a:off x="274320" y="1261872"/>
            <a:ext cx="155448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Client App / SDK</a:t>
            </a:r>
            <a:endParaRPr lang="en-US" sz="1100" dirty="0"/>
          </a:p>
        </p:txBody>
      </p:sp>
      <p:sp>
        <p:nvSpPr>
          <p:cNvPr id="7" name="Text 5"/>
          <p:cNvSpPr/>
          <p:nvPr/>
        </p:nvSpPr>
        <p:spPr>
          <a:xfrm>
            <a:off x="274320" y="1554480"/>
            <a:ext cx="1554480" cy="228600"/>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OpenAI Spec</a:t>
            </a:r>
            <a:endParaRPr lang="en-US" sz="900" dirty="0"/>
          </a:p>
        </p:txBody>
      </p:sp>
      <p:sp>
        <p:nvSpPr>
          <p:cNvPr id="8" name="Shape 6"/>
          <p:cNvSpPr/>
          <p:nvPr/>
        </p:nvSpPr>
        <p:spPr>
          <a:xfrm>
            <a:off x="2240280" y="1188720"/>
            <a:ext cx="1737360" cy="685800"/>
          </a:xfrm>
          <a:prstGeom prst="roundRect">
            <a:avLst>
              <a:gd name="adj" fmla="val 16000"/>
            </a:avLst>
          </a:prstGeom>
          <a:solidFill>
            <a:srgbClr val="1C3A1C"/>
          </a:solidFill>
          <a:ln w="12700">
            <a:solidFill>
              <a:srgbClr val="1F2937"/>
            </a:solidFill>
            <a:prstDash val="solid"/>
          </a:ln>
        </p:spPr>
      </p:sp>
      <p:sp>
        <p:nvSpPr>
          <p:cNvPr id="9" name="Text 7"/>
          <p:cNvSpPr/>
          <p:nvPr/>
        </p:nvSpPr>
        <p:spPr>
          <a:xfrm>
            <a:off x="2331720" y="1261872"/>
            <a:ext cx="155448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FastAPI Gateway</a:t>
            </a:r>
            <a:endParaRPr lang="en-US" sz="1100" dirty="0"/>
          </a:p>
        </p:txBody>
      </p:sp>
      <p:sp>
        <p:nvSpPr>
          <p:cNvPr id="10" name="Text 8"/>
          <p:cNvSpPr/>
          <p:nvPr/>
        </p:nvSpPr>
        <p:spPr>
          <a:xfrm>
            <a:off x="2331720" y="1554480"/>
            <a:ext cx="1554480" cy="228600"/>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SmartRoute Core</a:t>
            </a:r>
            <a:endParaRPr lang="en-US" sz="900" dirty="0"/>
          </a:p>
        </p:txBody>
      </p:sp>
      <p:sp>
        <p:nvSpPr>
          <p:cNvPr id="11" name="Shape 9"/>
          <p:cNvSpPr/>
          <p:nvPr/>
        </p:nvSpPr>
        <p:spPr>
          <a:xfrm>
            <a:off x="4297680" y="1188720"/>
            <a:ext cx="1737360" cy="685800"/>
          </a:xfrm>
          <a:prstGeom prst="roundRect">
            <a:avLst>
              <a:gd name="adj" fmla="val 16000"/>
            </a:avLst>
          </a:prstGeom>
          <a:solidFill>
            <a:srgbClr val="3A1C1C"/>
          </a:solidFill>
          <a:ln w="12700">
            <a:solidFill>
              <a:srgbClr val="1F2937"/>
            </a:solidFill>
            <a:prstDash val="solid"/>
          </a:ln>
        </p:spPr>
      </p:sp>
      <p:sp>
        <p:nvSpPr>
          <p:cNvPr id="12" name="Text 10"/>
          <p:cNvSpPr/>
          <p:nvPr/>
        </p:nvSpPr>
        <p:spPr>
          <a:xfrm>
            <a:off x="4389120" y="1261872"/>
            <a:ext cx="155448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Auth &amp; Rate Limiter</a:t>
            </a:r>
            <a:endParaRPr lang="en-US" sz="1100" dirty="0"/>
          </a:p>
        </p:txBody>
      </p:sp>
      <p:sp>
        <p:nvSpPr>
          <p:cNvPr id="13" name="Text 11"/>
          <p:cNvSpPr/>
          <p:nvPr/>
        </p:nvSpPr>
        <p:spPr>
          <a:xfrm>
            <a:off x="4389120" y="1554480"/>
            <a:ext cx="1554480" cy="228600"/>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Tier Quota Guard</a:t>
            </a:r>
            <a:endParaRPr lang="en-US" sz="900" dirty="0"/>
          </a:p>
        </p:txBody>
      </p:sp>
      <p:sp>
        <p:nvSpPr>
          <p:cNvPr id="14" name="Shape 12"/>
          <p:cNvSpPr/>
          <p:nvPr/>
        </p:nvSpPr>
        <p:spPr>
          <a:xfrm>
            <a:off x="2240280" y="2240280"/>
            <a:ext cx="1737360" cy="685800"/>
          </a:xfrm>
          <a:prstGeom prst="roundRect">
            <a:avLst>
              <a:gd name="adj" fmla="val 16000"/>
            </a:avLst>
          </a:prstGeom>
          <a:solidFill>
            <a:srgbClr val="2A1A3A"/>
          </a:solidFill>
          <a:ln w="12700">
            <a:solidFill>
              <a:srgbClr val="1F2937"/>
            </a:solidFill>
            <a:prstDash val="solid"/>
          </a:ln>
        </p:spPr>
      </p:sp>
      <p:sp>
        <p:nvSpPr>
          <p:cNvPr id="15" name="Text 13"/>
          <p:cNvSpPr/>
          <p:nvPr/>
        </p:nvSpPr>
        <p:spPr>
          <a:xfrm>
            <a:off x="2331720" y="2313432"/>
            <a:ext cx="155448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Classifier + Policy</a:t>
            </a:r>
            <a:endParaRPr lang="en-US" sz="1100" dirty="0"/>
          </a:p>
        </p:txBody>
      </p:sp>
      <p:sp>
        <p:nvSpPr>
          <p:cNvPr id="16" name="Text 14"/>
          <p:cNvSpPr/>
          <p:nvPr/>
        </p:nvSpPr>
        <p:spPr>
          <a:xfrm>
            <a:off x="2331720" y="2606040"/>
            <a:ext cx="1554480" cy="228600"/>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Router Engine</a:t>
            </a:r>
            <a:endParaRPr lang="en-US" sz="900" dirty="0"/>
          </a:p>
        </p:txBody>
      </p:sp>
      <p:sp>
        <p:nvSpPr>
          <p:cNvPr id="17" name="Shape 15"/>
          <p:cNvSpPr/>
          <p:nvPr/>
        </p:nvSpPr>
        <p:spPr>
          <a:xfrm>
            <a:off x="4297680" y="2240280"/>
            <a:ext cx="1737360" cy="685800"/>
          </a:xfrm>
          <a:prstGeom prst="roundRect">
            <a:avLst>
              <a:gd name="adj" fmla="val 16000"/>
            </a:avLst>
          </a:prstGeom>
          <a:solidFill>
            <a:srgbClr val="1A2A1A"/>
          </a:solidFill>
          <a:ln w="12700">
            <a:solidFill>
              <a:srgbClr val="1F2937"/>
            </a:solidFill>
            <a:prstDash val="solid"/>
          </a:ln>
        </p:spPr>
      </p:sp>
      <p:sp>
        <p:nvSpPr>
          <p:cNvPr id="18" name="Text 16"/>
          <p:cNvSpPr/>
          <p:nvPr/>
        </p:nvSpPr>
        <p:spPr>
          <a:xfrm>
            <a:off x="4389120" y="2313432"/>
            <a:ext cx="155448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Outcome Observer</a:t>
            </a:r>
            <a:endParaRPr lang="en-US" sz="1100" dirty="0"/>
          </a:p>
        </p:txBody>
      </p:sp>
      <p:sp>
        <p:nvSpPr>
          <p:cNvPr id="19" name="Text 17"/>
          <p:cNvSpPr/>
          <p:nvPr/>
        </p:nvSpPr>
        <p:spPr>
          <a:xfrm>
            <a:off x="4389120" y="2606040"/>
            <a:ext cx="1554480" cy="228600"/>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2-Phase Log</a:t>
            </a:r>
            <a:endParaRPr lang="en-US" sz="900" dirty="0"/>
          </a:p>
        </p:txBody>
      </p:sp>
      <p:sp>
        <p:nvSpPr>
          <p:cNvPr id="20" name="Shape 18"/>
          <p:cNvSpPr/>
          <p:nvPr/>
        </p:nvSpPr>
        <p:spPr>
          <a:xfrm>
            <a:off x="2240280" y="3291840"/>
            <a:ext cx="1737360" cy="685800"/>
          </a:xfrm>
          <a:prstGeom prst="roundRect">
            <a:avLst>
              <a:gd name="adj" fmla="val 16000"/>
            </a:avLst>
          </a:prstGeom>
          <a:solidFill>
            <a:srgbClr val="3A2A00"/>
          </a:solidFill>
          <a:ln w="12700">
            <a:solidFill>
              <a:srgbClr val="1F2937"/>
            </a:solidFill>
            <a:prstDash val="solid"/>
          </a:ln>
        </p:spPr>
      </p:sp>
      <p:sp>
        <p:nvSpPr>
          <p:cNvPr id="21" name="Text 19"/>
          <p:cNvSpPr/>
          <p:nvPr/>
        </p:nvSpPr>
        <p:spPr>
          <a:xfrm>
            <a:off x="2331720" y="3364992"/>
            <a:ext cx="155448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Provider Adapters</a:t>
            </a:r>
            <a:endParaRPr lang="en-US" sz="1100" dirty="0"/>
          </a:p>
        </p:txBody>
      </p:sp>
      <p:sp>
        <p:nvSpPr>
          <p:cNvPr id="22" name="Text 20"/>
          <p:cNvSpPr/>
          <p:nvPr/>
        </p:nvSpPr>
        <p:spPr>
          <a:xfrm>
            <a:off x="2331720" y="3657600"/>
            <a:ext cx="1554480" cy="228600"/>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Multi-provider</a:t>
            </a:r>
            <a:endParaRPr lang="en-US" sz="900" dirty="0"/>
          </a:p>
        </p:txBody>
      </p:sp>
      <p:sp>
        <p:nvSpPr>
          <p:cNvPr id="23" name="Shape 21"/>
          <p:cNvSpPr/>
          <p:nvPr/>
        </p:nvSpPr>
        <p:spPr>
          <a:xfrm>
            <a:off x="1920240" y="1536192"/>
            <a:ext cx="320040" cy="0"/>
          </a:xfrm>
          <a:prstGeom prst="line">
            <a:avLst/>
          </a:prstGeom>
          <a:noFill/>
          <a:ln w="12700">
            <a:solidFill>
              <a:srgbClr val="00D4FF"/>
            </a:solidFill>
            <a:prstDash val="solid"/>
          </a:ln>
        </p:spPr>
      </p:sp>
      <p:sp>
        <p:nvSpPr>
          <p:cNvPr id="24" name="Shape 22"/>
          <p:cNvSpPr/>
          <p:nvPr/>
        </p:nvSpPr>
        <p:spPr>
          <a:xfrm>
            <a:off x="3977640" y="1536192"/>
            <a:ext cx="320040" cy="0"/>
          </a:xfrm>
          <a:prstGeom prst="line">
            <a:avLst/>
          </a:prstGeom>
          <a:noFill/>
          <a:ln w="12700">
            <a:solidFill>
              <a:srgbClr val="00D4FF"/>
            </a:solidFill>
            <a:prstDash val="solid"/>
          </a:ln>
        </p:spPr>
      </p:sp>
      <p:sp>
        <p:nvSpPr>
          <p:cNvPr id="25" name="Shape 23"/>
          <p:cNvSpPr/>
          <p:nvPr/>
        </p:nvSpPr>
        <p:spPr>
          <a:xfrm>
            <a:off x="3063240" y="1874520"/>
            <a:ext cx="0" cy="365760"/>
          </a:xfrm>
          <a:prstGeom prst="line">
            <a:avLst/>
          </a:prstGeom>
          <a:noFill/>
          <a:ln w="12700">
            <a:solidFill>
              <a:srgbClr val="00D4FF"/>
            </a:solidFill>
            <a:prstDash val="solid"/>
          </a:ln>
        </p:spPr>
      </p:sp>
      <p:sp>
        <p:nvSpPr>
          <p:cNvPr id="26" name="Shape 24"/>
          <p:cNvSpPr/>
          <p:nvPr/>
        </p:nvSpPr>
        <p:spPr>
          <a:xfrm>
            <a:off x="3977640" y="2587752"/>
            <a:ext cx="320040" cy="0"/>
          </a:xfrm>
          <a:prstGeom prst="line">
            <a:avLst/>
          </a:prstGeom>
          <a:noFill/>
          <a:ln w="12700">
            <a:solidFill>
              <a:srgbClr val="00D4FF"/>
            </a:solidFill>
            <a:prstDash val="solid"/>
          </a:ln>
        </p:spPr>
      </p:sp>
      <p:sp>
        <p:nvSpPr>
          <p:cNvPr id="27" name="Shape 25"/>
          <p:cNvSpPr/>
          <p:nvPr/>
        </p:nvSpPr>
        <p:spPr>
          <a:xfrm>
            <a:off x="3063240" y="2926080"/>
            <a:ext cx="0" cy="365760"/>
          </a:xfrm>
          <a:prstGeom prst="line">
            <a:avLst/>
          </a:prstGeom>
          <a:noFill/>
          <a:ln w="12700">
            <a:solidFill>
              <a:srgbClr val="00D4FF"/>
            </a:solidFill>
            <a:prstDash val="solid"/>
          </a:ln>
        </p:spPr>
      </p:sp>
      <p:sp>
        <p:nvSpPr>
          <p:cNvPr id="28" name="Shape 26"/>
          <p:cNvSpPr/>
          <p:nvPr/>
        </p:nvSpPr>
        <p:spPr>
          <a:xfrm>
            <a:off x="6355080" y="1188720"/>
            <a:ext cx="2377440" cy="658368"/>
          </a:xfrm>
          <a:prstGeom prst="roundRect">
            <a:avLst>
              <a:gd name="adj" fmla="val 16667"/>
            </a:avLst>
          </a:prstGeom>
          <a:solidFill>
            <a:srgbClr val="161B22"/>
          </a:solidFill>
          <a:ln w="12700">
            <a:solidFill>
              <a:srgbClr val="1F2937"/>
            </a:solidFill>
            <a:prstDash val="solid"/>
          </a:ln>
        </p:spPr>
      </p:sp>
      <p:sp>
        <p:nvSpPr>
          <p:cNvPr id="29" name="Shape 27"/>
          <p:cNvSpPr/>
          <p:nvPr/>
        </p:nvSpPr>
        <p:spPr>
          <a:xfrm>
            <a:off x="6446520" y="1389888"/>
            <a:ext cx="228600" cy="228600"/>
          </a:xfrm>
          <a:prstGeom prst="ellipse">
            <a:avLst/>
          </a:prstGeom>
          <a:solidFill>
            <a:srgbClr val="10B981"/>
          </a:solidFill>
          <a:ln w="12700">
            <a:solidFill>
              <a:srgbClr val="10B981"/>
            </a:solidFill>
            <a:prstDash val="solid"/>
          </a:ln>
        </p:spPr>
      </p:sp>
      <p:sp>
        <p:nvSpPr>
          <p:cNvPr id="30" name="Text 28"/>
          <p:cNvSpPr/>
          <p:nvPr/>
        </p:nvSpPr>
        <p:spPr>
          <a:xfrm>
            <a:off x="6720840" y="128016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Gemini Flash</a:t>
            </a:r>
            <a:endParaRPr lang="en-US" sz="1100" dirty="0"/>
          </a:p>
        </p:txBody>
      </p:sp>
      <p:sp>
        <p:nvSpPr>
          <p:cNvPr id="31" name="Text 29"/>
          <p:cNvSpPr/>
          <p:nvPr/>
        </p:nvSpPr>
        <p:spPr>
          <a:xfrm>
            <a:off x="6720840" y="1536192"/>
            <a:ext cx="1920240" cy="228600"/>
          </a:xfrm>
          <a:prstGeom prst="rect">
            <a:avLst/>
          </a:prstGeom>
          <a:noFill/>
          <a:ln/>
        </p:spPr>
        <p:txBody>
          <a:bodyPr wrap="square" rtlCol="0" anchor="ctr"/>
          <a:lstStyle/>
          <a:p>
            <a:pPr marL="0" indent="0">
              <a:buNone/>
            </a:pPr>
            <a:r>
              <a:rPr lang="en-US" sz="1000" dirty="0">
                <a:solidFill>
                  <a:srgbClr val="10B981"/>
                </a:solidFill>
                <a:latin typeface="Calibri" pitchFamily="34" charset="0"/>
                <a:ea typeface="Calibri" pitchFamily="34" charset="-122"/>
                <a:cs typeface="Calibri" pitchFamily="34" charset="-120"/>
              </a:rPr>
              <a:t>Tier T1</a:t>
            </a:r>
            <a:endParaRPr lang="en-US" sz="1000" dirty="0"/>
          </a:p>
        </p:txBody>
      </p:sp>
      <p:sp>
        <p:nvSpPr>
          <p:cNvPr id="32" name="Shape 30"/>
          <p:cNvSpPr/>
          <p:nvPr/>
        </p:nvSpPr>
        <p:spPr>
          <a:xfrm>
            <a:off x="3977640" y="3639312"/>
            <a:ext cx="2377440" cy="0"/>
          </a:xfrm>
          <a:prstGeom prst="line">
            <a:avLst/>
          </a:prstGeom>
          <a:noFill/>
          <a:ln w="12700">
            <a:solidFill>
              <a:srgbClr val="64748B"/>
            </a:solidFill>
            <a:prstDash val="solid"/>
          </a:ln>
        </p:spPr>
      </p:sp>
      <p:sp>
        <p:nvSpPr>
          <p:cNvPr id="33" name="Shape 31"/>
          <p:cNvSpPr/>
          <p:nvPr/>
        </p:nvSpPr>
        <p:spPr>
          <a:xfrm>
            <a:off x="6355080" y="2011680"/>
            <a:ext cx="2377440" cy="658368"/>
          </a:xfrm>
          <a:prstGeom prst="roundRect">
            <a:avLst>
              <a:gd name="adj" fmla="val 16667"/>
            </a:avLst>
          </a:prstGeom>
          <a:solidFill>
            <a:srgbClr val="161B22"/>
          </a:solidFill>
          <a:ln w="12700">
            <a:solidFill>
              <a:srgbClr val="1F2937"/>
            </a:solidFill>
            <a:prstDash val="solid"/>
          </a:ln>
        </p:spPr>
      </p:sp>
      <p:sp>
        <p:nvSpPr>
          <p:cNvPr id="34" name="Shape 32"/>
          <p:cNvSpPr/>
          <p:nvPr/>
        </p:nvSpPr>
        <p:spPr>
          <a:xfrm>
            <a:off x="6446520" y="2212848"/>
            <a:ext cx="228600" cy="228600"/>
          </a:xfrm>
          <a:prstGeom prst="ellipse">
            <a:avLst/>
          </a:prstGeom>
          <a:solidFill>
            <a:srgbClr val="F59E0B"/>
          </a:solidFill>
          <a:ln w="12700">
            <a:solidFill>
              <a:srgbClr val="F59E0B"/>
            </a:solidFill>
            <a:prstDash val="solid"/>
          </a:ln>
        </p:spPr>
      </p:sp>
      <p:sp>
        <p:nvSpPr>
          <p:cNvPr id="35" name="Text 33"/>
          <p:cNvSpPr/>
          <p:nvPr/>
        </p:nvSpPr>
        <p:spPr>
          <a:xfrm>
            <a:off x="6720840" y="210312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Groq Llama-3.1</a:t>
            </a:r>
            <a:endParaRPr lang="en-US" sz="1100" dirty="0"/>
          </a:p>
        </p:txBody>
      </p:sp>
      <p:sp>
        <p:nvSpPr>
          <p:cNvPr id="36" name="Text 34"/>
          <p:cNvSpPr/>
          <p:nvPr/>
        </p:nvSpPr>
        <p:spPr>
          <a:xfrm>
            <a:off x="6720840" y="2359152"/>
            <a:ext cx="1920240" cy="228600"/>
          </a:xfrm>
          <a:prstGeom prst="rect">
            <a:avLst/>
          </a:prstGeom>
          <a:noFill/>
          <a:ln/>
        </p:spPr>
        <p:txBody>
          <a:bodyPr wrap="square" rtlCol="0" anchor="ctr"/>
          <a:lstStyle/>
          <a:p>
            <a:pPr marL="0" indent="0">
              <a:buNone/>
            </a:pPr>
            <a:r>
              <a:rPr lang="en-US" sz="1000" dirty="0">
                <a:solidFill>
                  <a:srgbClr val="F59E0B"/>
                </a:solidFill>
                <a:latin typeface="Calibri" pitchFamily="34" charset="0"/>
                <a:ea typeface="Calibri" pitchFamily="34" charset="-122"/>
                <a:cs typeface="Calibri" pitchFamily="34" charset="-120"/>
              </a:rPr>
              <a:t>Tier T1/2</a:t>
            </a:r>
            <a:endParaRPr lang="en-US" sz="1000" dirty="0"/>
          </a:p>
        </p:txBody>
      </p:sp>
      <p:sp>
        <p:nvSpPr>
          <p:cNvPr id="37" name="Shape 35"/>
          <p:cNvSpPr/>
          <p:nvPr/>
        </p:nvSpPr>
        <p:spPr>
          <a:xfrm>
            <a:off x="3977640" y="3639312"/>
            <a:ext cx="2377440" cy="0"/>
          </a:xfrm>
          <a:prstGeom prst="line">
            <a:avLst/>
          </a:prstGeom>
          <a:noFill/>
          <a:ln w="12700">
            <a:solidFill>
              <a:srgbClr val="64748B"/>
            </a:solidFill>
            <a:prstDash val="solid"/>
          </a:ln>
        </p:spPr>
      </p:sp>
      <p:sp>
        <p:nvSpPr>
          <p:cNvPr id="38" name="Shape 36"/>
          <p:cNvSpPr/>
          <p:nvPr/>
        </p:nvSpPr>
        <p:spPr>
          <a:xfrm>
            <a:off x="6355080" y="2834640"/>
            <a:ext cx="2377440" cy="658368"/>
          </a:xfrm>
          <a:prstGeom prst="roundRect">
            <a:avLst>
              <a:gd name="adj" fmla="val 16667"/>
            </a:avLst>
          </a:prstGeom>
          <a:solidFill>
            <a:srgbClr val="161B22"/>
          </a:solidFill>
          <a:ln w="12700">
            <a:solidFill>
              <a:srgbClr val="1F2937"/>
            </a:solidFill>
            <a:prstDash val="solid"/>
          </a:ln>
        </p:spPr>
      </p:sp>
      <p:sp>
        <p:nvSpPr>
          <p:cNvPr id="39" name="Shape 37"/>
          <p:cNvSpPr/>
          <p:nvPr/>
        </p:nvSpPr>
        <p:spPr>
          <a:xfrm>
            <a:off x="6446520" y="3035808"/>
            <a:ext cx="228600" cy="228600"/>
          </a:xfrm>
          <a:prstGeom prst="ellipse">
            <a:avLst/>
          </a:prstGeom>
          <a:solidFill>
            <a:srgbClr val="EF4444"/>
          </a:solidFill>
          <a:ln w="12700">
            <a:solidFill>
              <a:srgbClr val="EF4444"/>
            </a:solidFill>
            <a:prstDash val="solid"/>
          </a:ln>
        </p:spPr>
      </p:sp>
      <p:sp>
        <p:nvSpPr>
          <p:cNvPr id="40" name="Text 38"/>
          <p:cNvSpPr/>
          <p:nvPr/>
        </p:nvSpPr>
        <p:spPr>
          <a:xfrm>
            <a:off x="6720840" y="292608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OpenAI GPT-4o</a:t>
            </a:r>
            <a:endParaRPr lang="en-US" sz="1100" dirty="0"/>
          </a:p>
        </p:txBody>
      </p:sp>
      <p:sp>
        <p:nvSpPr>
          <p:cNvPr id="41" name="Text 39"/>
          <p:cNvSpPr/>
          <p:nvPr/>
        </p:nvSpPr>
        <p:spPr>
          <a:xfrm>
            <a:off x="6720840" y="3182112"/>
            <a:ext cx="1920240" cy="228600"/>
          </a:xfrm>
          <a:prstGeom prst="rect">
            <a:avLst/>
          </a:prstGeom>
          <a:noFill/>
          <a:ln/>
        </p:spPr>
        <p:txBody>
          <a:bodyPr wrap="square" rtlCol="0" anchor="ctr"/>
          <a:lstStyle/>
          <a:p>
            <a:pPr marL="0" indent="0">
              <a:buNone/>
            </a:pPr>
            <a:r>
              <a:rPr lang="en-US" sz="1000" dirty="0">
                <a:solidFill>
                  <a:srgbClr val="EF4444"/>
                </a:solidFill>
                <a:latin typeface="Calibri" pitchFamily="34" charset="0"/>
                <a:ea typeface="Calibri" pitchFamily="34" charset="-122"/>
                <a:cs typeface="Calibri" pitchFamily="34" charset="-120"/>
              </a:rPr>
              <a:t>Tier T3</a:t>
            </a:r>
            <a:endParaRPr lang="en-US" sz="1000" dirty="0"/>
          </a:p>
        </p:txBody>
      </p:sp>
      <p:sp>
        <p:nvSpPr>
          <p:cNvPr id="42" name="Shape 40"/>
          <p:cNvSpPr/>
          <p:nvPr/>
        </p:nvSpPr>
        <p:spPr>
          <a:xfrm>
            <a:off x="3977640" y="3639312"/>
            <a:ext cx="2377440" cy="0"/>
          </a:xfrm>
          <a:prstGeom prst="line">
            <a:avLst/>
          </a:prstGeom>
          <a:noFill/>
          <a:ln w="12700">
            <a:solidFill>
              <a:srgbClr val="64748B"/>
            </a:solidFill>
            <a:prstDash val="solid"/>
          </a:ln>
        </p:spPr>
      </p:sp>
      <p:sp>
        <p:nvSpPr>
          <p:cNvPr id="43" name="Shape 41"/>
          <p:cNvSpPr/>
          <p:nvPr/>
        </p:nvSpPr>
        <p:spPr>
          <a:xfrm>
            <a:off x="6355080" y="3657600"/>
            <a:ext cx="2377440" cy="658368"/>
          </a:xfrm>
          <a:prstGeom prst="roundRect">
            <a:avLst>
              <a:gd name="adj" fmla="val 16667"/>
            </a:avLst>
          </a:prstGeom>
          <a:solidFill>
            <a:srgbClr val="161B22"/>
          </a:solidFill>
          <a:ln w="12700">
            <a:solidFill>
              <a:srgbClr val="1F2937"/>
            </a:solidFill>
            <a:prstDash val="solid"/>
          </a:ln>
        </p:spPr>
      </p:sp>
      <p:sp>
        <p:nvSpPr>
          <p:cNvPr id="44" name="Shape 42"/>
          <p:cNvSpPr/>
          <p:nvPr/>
        </p:nvSpPr>
        <p:spPr>
          <a:xfrm>
            <a:off x="6446520" y="3858768"/>
            <a:ext cx="228600" cy="228600"/>
          </a:xfrm>
          <a:prstGeom prst="ellipse">
            <a:avLst/>
          </a:prstGeom>
          <a:solidFill>
            <a:srgbClr val="64748B"/>
          </a:solidFill>
          <a:ln w="12700">
            <a:solidFill>
              <a:srgbClr val="64748B"/>
            </a:solidFill>
            <a:prstDash val="solid"/>
          </a:ln>
        </p:spPr>
      </p:sp>
      <p:sp>
        <p:nvSpPr>
          <p:cNvPr id="45" name="Text 43"/>
          <p:cNvSpPr/>
          <p:nvPr/>
        </p:nvSpPr>
        <p:spPr>
          <a:xfrm>
            <a:off x="6720840" y="374904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Ollama Local</a:t>
            </a:r>
            <a:endParaRPr lang="en-US" sz="1100" dirty="0"/>
          </a:p>
        </p:txBody>
      </p:sp>
      <p:sp>
        <p:nvSpPr>
          <p:cNvPr id="46" name="Text 44"/>
          <p:cNvSpPr/>
          <p:nvPr/>
        </p:nvSpPr>
        <p:spPr>
          <a:xfrm>
            <a:off x="6720840" y="4005072"/>
            <a:ext cx="192024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Tier T1</a:t>
            </a:r>
            <a:endParaRPr lang="en-US" sz="1000" dirty="0"/>
          </a:p>
        </p:txBody>
      </p:sp>
      <p:sp>
        <p:nvSpPr>
          <p:cNvPr id="47" name="Shape 45"/>
          <p:cNvSpPr/>
          <p:nvPr/>
        </p:nvSpPr>
        <p:spPr>
          <a:xfrm>
            <a:off x="3977640" y="3639312"/>
            <a:ext cx="2377440" cy="347472"/>
          </a:xfrm>
          <a:prstGeom prst="line">
            <a:avLst/>
          </a:prstGeom>
          <a:noFill/>
          <a:ln w="12700">
            <a:solidFill>
              <a:srgbClr val="64748B"/>
            </a:solidFill>
            <a:prstDash val="solid"/>
          </a:ln>
        </p:spPr>
      </p:sp>
      <p:sp>
        <p:nvSpPr>
          <p:cNvPr id="48" name="Shape 46"/>
          <p:cNvSpPr/>
          <p:nvPr/>
        </p:nvSpPr>
        <p:spPr>
          <a:xfrm>
            <a:off x="182880" y="3291840"/>
            <a:ext cx="1737360" cy="685800"/>
          </a:xfrm>
          <a:prstGeom prst="roundRect">
            <a:avLst>
              <a:gd name="adj" fmla="val 16000"/>
            </a:avLst>
          </a:prstGeom>
          <a:solidFill>
            <a:srgbClr val="1A1A2A"/>
          </a:solidFill>
          <a:ln w="12700">
            <a:solidFill>
              <a:srgbClr val="1F2937"/>
            </a:solidFill>
            <a:prstDash val="solid"/>
          </a:ln>
        </p:spPr>
      </p:sp>
      <p:sp>
        <p:nvSpPr>
          <p:cNvPr id="49" name="Text 47"/>
          <p:cNvSpPr/>
          <p:nvPr/>
        </p:nvSpPr>
        <p:spPr>
          <a:xfrm>
            <a:off x="182880" y="3337560"/>
            <a:ext cx="1737360" cy="3200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50" name="Text 48"/>
          <p:cNvSpPr/>
          <p:nvPr/>
        </p:nvSpPr>
        <p:spPr>
          <a:xfrm>
            <a:off x="182880" y="3639312"/>
            <a:ext cx="1737360" cy="320040"/>
          </a:xfrm>
          <a:prstGeom prst="rect">
            <a:avLst/>
          </a:prstGeom>
          <a:noFill/>
          <a:ln/>
        </p:spPr>
        <p:txBody>
          <a:bodyPr wrap="square"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Supabase</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PostgreSQL</a:t>
            </a:r>
            <a:endParaRPr lang="en-US" sz="900" dirty="0"/>
          </a:p>
        </p:txBody>
      </p:sp>
      <p:sp>
        <p:nvSpPr>
          <p:cNvPr id="51" name="Shape 49"/>
          <p:cNvSpPr/>
          <p:nvPr/>
        </p:nvSpPr>
        <p:spPr>
          <a:xfrm>
            <a:off x="1920240" y="3639312"/>
            <a:ext cx="320040" cy="0"/>
          </a:xfrm>
          <a:prstGeom prst="line">
            <a:avLst/>
          </a:prstGeom>
          <a:noFill/>
          <a:ln w="12700">
            <a:solidFill>
              <a:srgbClr val="64748B"/>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Text 1"/>
          <p:cNvSpPr/>
          <p:nvPr/>
        </p:nvSpPr>
        <p:spPr>
          <a:xfrm>
            <a:off x="457200" y="274320"/>
            <a:ext cx="82296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AI/LLM Approach: Router thông minh</a:t>
            </a:r>
            <a:endParaRPr lang="en-US" sz="2800" dirty="0"/>
          </a:p>
        </p:txBody>
      </p:sp>
      <p:sp>
        <p:nvSpPr>
          <p:cNvPr id="4" name="Shape 2"/>
          <p:cNvSpPr/>
          <p:nvPr/>
        </p:nvSpPr>
        <p:spPr>
          <a:xfrm>
            <a:off x="457200" y="868680"/>
            <a:ext cx="8229600" cy="0"/>
          </a:xfrm>
          <a:prstGeom prst="line">
            <a:avLst/>
          </a:prstGeom>
          <a:noFill/>
          <a:ln w="12700">
            <a:solidFill>
              <a:srgbClr val="7C3AED"/>
            </a:solidFill>
            <a:prstDash val="solid"/>
          </a:ln>
        </p:spPr>
      </p:sp>
      <p:sp>
        <p:nvSpPr>
          <p:cNvPr id="5" name="Shape 3"/>
          <p:cNvSpPr/>
          <p:nvPr/>
        </p:nvSpPr>
        <p:spPr>
          <a:xfrm>
            <a:off x="457200" y="1005840"/>
            <a:ext cx="3931920" cy="2194560"/>
          </a:xfrm>
          <a:prstGeom prst="roundRect">
            <a:avLst>
              <a:gd name="adj" fmla="val 5000"/>
            </a:avLst>
          </a:prstGeom>
          <a:solidFill>
            <a:srgbClr val="0A0A1A"/>
          </a:solidFill>
          <a:ln w="12700">
            <a:solidFill>
              <a:srgbClr val="1F2937"/>
            </a:solidFill>
            <a:prstDash val="solid"/>
          </a:ln>
        </p:spPr>
      </p:sp>
      <p:sp>
        <p:nvSpPr>
          <p:cNvPr id="6" name="Text 4"/>
          <p:cNvSpPr/>
          <p:nvPr/>
        </p:nvSpPr>
        <p:spPr>
          <a:xfrm>
            <a:off x="594360" y="1051560"/>
            <a:ext cx="365760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Tier 1 — Heuristic Classifier v1.5</a:t>
            </a:r>
            <a:endParaRPr lang="en-US" sz="1300" dirty="0"/>
          </a:p>
        </p:txBody>
      </p:sp>
      <p:sp>
        <p:nvSpPr>
          <p:cNvPr id="7" name="Text 5"/>
          <p:cNvSpPr/>
          <p:nvPr/>
        </p:nvSpPr>
        <p:spPr>
          <a:xfrm>
            <a:off x="640080" y="1417320"/>
            <a:ext cx="3566160" cy="29260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Code blocks &amp; LaTeX math detection</a:t>
            </a:r>
            <a:endParaRPr lang="en-US" sz="1100" dirty="0"/>
          </a:p>
        </p:txBody>
      </p:sp>
      <p:sp>
        <p:nvSpPr>
          <p:cNvPr id="8" name="Text 6"/>
          <p:cNvSpPr/>
          <p:nvPr/>
        </p:nvSpPr>
        <p:spPr>
          <a:xfrm>
            <a:off x="640080" y="1746504"/>
            <a:ext cx="3566160" cy="29260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Reasoning keywords &amp; logic complexity</a:t>
            </a:r>
            <a:endParaRPr lang="en-US" sz="1100" dirty="0"/>
          </a:p>
        </p:txBody>
      </p:sp>
      <p:sp>
        <p:nvSpPr>
          <p:cNvPr id="9" name="Text 7"/>
          <p:cNvSpPr/>
          <p:nvPr/>
        </p:nvSpPr>
        <p:spPr>
          <a:xfrm>
            <a:off x="640080" y="2075688"/>
            <a:ext cx="3566160" cy="29260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Context length &amp; JSON structure</a:t>
            </a:r>
            <a:endParaRPr lang="en-US" sz="1100" dirty="0"/>
          </a:p>
        </p:txBody>
      </p:sp>
      <p:sp>
        <p:nvSpPr>
          <p:cNvPr id="10" name="Text 8"/>
          <p:cNvSpPr/>
          <p:nvPr/>
        </p:nvSpPr>
        <p:spPr>
          <a:xfrm>
            <a:off x="640080" y="2404872"/>
            <a:ext cx="3566160" cy="29260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Cost: $0 — 100% in-memory CPU</a:t>
            </a:r>
            <a:endParaRPr lang="en-US" sz="1100" dirty="0"/>
          </a:p>
        </p:txBody>
      </p:sp>
      <p:sp>
        <p:nvSpPr>
          <p:cNvPr id="11" name="Shape 9"/>
          <p:cNvSpPr/>
          <p:nvPr/>
        </p:nvSpPr>
        <p:spPr>
          <a:xfrm>
            <a:off x="594360" y="2651760"/>
            <a:ext cx="3566160" cy="457200"/>
          </a:xfrm>
          <a:prstGeom prst="roundRect">
            <a:avLst>
              <a:gd name="adj" fmla="val 24000"/>
            </a:avLst>
          </a:prstGeom>
          <a:solidFill>
            <a:srgbClr val="001040"/>
          </a:solidFill>
          <a:ln w="12700">
            <a:solidFill>
              <a:srgbClr val="1F2937"/>
            </a:solidFill>
            <a:prstDash val="solid"/>
          </a:ln>
        </p:spPr>
      </p:sp>
      <p:sp>
        <p:nvSpPr>
          <p:cNvPr id="12" name="Text 10"/>
          <p:cNvSpPr/>
          <p:nvPr/>
        </p:nvSpPr>
        <p:spPr>
          <a:xfrm>
            <a:off x="594360" y="2679192"/>
            <a:ext cx="3566160" cy="402336"/>
          </a:xfrm>
          <a:prstGeom prst="rect">
            <a:avLst/>
          </a:prstGeom>
          <a:noFill/>
          <a:ln/>
        </p:spPr>
        <p:txBody>
          <a:bodyPr wrap="square"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p50: 0.50 ms  •  p95: 1.05 ms  •  Chi phí: $0</a:t>
            </a:r>
            <a:endParaRPr lang="en-US" sz="1200" dirty="0"/>
          </a:p>
        </p:txBody>
      </p:sp>
      <p:sp>
        <p:nvSpPr>
          <p:cNvPr id="13" name="Shape 11"/>
          <p:cNvSpPr/>
          <p:nvPr/>
        </p:nvSpPr>
        <p:spPr>
          <a:xfrm>
            <a:off x="4572000" y="1005840"/>
            <a:ext cx="4069080" cy="2194560"/>
          </a:xfrm>
          <a:prstGeom prst="roundRect">
            <a:avLst>
              <a:gd name="adj" fmla="val 5000"/>
            </a:avLst>
          </a:prstGeom>
          <a:solidFill>
            <a:srgbClr val="100A1A"/>
          </a:solidFill>
          <a:ln w="12700">
            <a:solidFill>
              <a:srgbClr val="1F2937"/>
            </a:solidFill>
            <a:prstDash val="solid"/>
          </a:ln>
        </p:spPr>
      </p:sp>
      <p:sp>
        <p:nvSpPr>
          <p:cNvPr id="14" name="Text 12"/>
          <p:cNvSpPr/>
          <p:nvPr/>
        </p:nvSpPr>
        <p:spPr>
          <a:xfrm>
            <a:off x="4709160" y="1051560"/>
            <a:ext cx="3794760" cy="32004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  Tier 2 — Session Router v2</a:t>
            </a:r>
            <a:endParaRPr lang="en-US" sz="1300" dirty="0"/>
          </a:p>
        </p:txBody>
      </p:sp>
      <p:sp>
        <p:nvSpPr>
          <p:cNvPr id="15" name="Text 13"/>
          <p:cNvSpPr/>
          <p:nvPr/>
        </p:nvSpPr>
        <p:spPr>
          <a:xfrm>
            <a:off x="4709160" y="1417320"/>
            <a:ext cx="3794760" cy="29260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Multi-turn context tracking</a:t>
            </a:r>
            <a:endParaRPr lang="en-US" sz="1100" dirty="0"/>
          </a:p>
        </p:txBody>
      </p:sp>
      <p:sp>
        <p:nvSpPr>
          <p:cNvPr id="16" name="Text 14"/>
          <p:cNvSpPr/>
          <p:nvPr/>
        </p:nvSpPr>
        <p:spPr>
          <a:xfrm>
            <a:off x="4709160" y="1746504"/>
            <a:ext cx="3794760" cy="29260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Semantic classification cho prompt mơ hồ</a:t>
            </a:r>
            <a:endParaRPr lang="en-US" sz="1100" dirty="0"/>
          </a:p>
        </p:txBody>
      </p:sp>
      <p:sp>
        <p:nvSpPr>
          <p:cNvPr id="17" name="Text 15"/>
          <p:cNvSpPr/>
          <p:nvPr/>
        </p:nvSpPr>
        <p:spPr>
          <a:xfrm>
            <a:off x="4709160" y="2075688"/>
            <a:ext cx="3794760" cy="29260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Item Response Theory (IRT) scoring</a:t>
            </a:r>
            <a:endParaRPr lang="en-US" sz="1100" dirty="0"/>
          </a:p>
        </p:txBody>
      </p:sp>
      <p:sp>
        <p:nvSpPr>
          <p:cNvPr id="18" name="Text 16"/>
          <p:cNvSpPr/>
          <p:nvPr/>
        </p:nvSpPr>
        <p:spPr>
          <a:xfrm>
            <a:off x="4709160" y="2404872"/>
            <a:ext cx="3794760" cy="29260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Tự động nâng/hạ Tier theo diễn tiến chat</a:t>
            </a:r>
            <a:endParaRPr lang="en-US" sz="1100" dirty="0"/>
          </a:p>
        </p:txBody>
      </p:sp>
      <p:sp>
        <p:nvSpPr>
          <p:cNvPr id="19" name="Shape 17"/>
          <p:cNvSpPr/>
          <p:nvPr/>
        </p:nvSpPr>
        <p:spPr>
          <a:xfrm>
            <a:off x="457200" y="3246120"/>
            <a:ext cx="8229600" cy="1600200"/>
          </a:xfrm>
          <a:prstGeom prst="roundRect">
            <a:avLst>
              <a:gd name="adj" fmla="val 6857"/>
            </a:avLst>
          </a:prstGeom>
          <a:solidFill>
            <a:srgbClr val="161B22"/>
          </a:solidFill>
          <a:ln w="12700">
            <a:solidFill>
              <a:srgbClr val="1F2937"/>
            </a:solidFill>
            <a:prstDash val="solid"/>
          </a:ln>
        </p:spPr>
      </p:sp>
      <p:sp>
        <p:nvSpPr>
          <p:cNvPr id="20" name="Text 18"/>
          <p:cNvSpPr/>
          <p:nvPr/>
        </p:nvSpPr>
        <p:spPr>
          <a:xfrm>
            <a:off x="594360" y="3291840"/>
            <a:ext cx="7955280" cy="32004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  Two-Phase Routing &amp; OutcomeObserver</a:t>
            </a:r>
            <a:endParaRPr lang="en-US" sz="1400" dirty="0"/>
          </a:p>
        </p:txBody>
      </p:sp>
      <p:sp>
        <p:nvSpPr>
          <p:cNvPr id="21" name="Shape 19"/>
          <p:cNvSpPr/>
          <p:nvPr/>
        </p:nvSpPr>
        <p:spPr>
          <a:xfrm>
            <a:off x="594360" y="3675888"/>
            <a:ext cx="320040" cy="320040"/>
          </a:xfrm>
          <a:prstGeom prst="ellipse">
            <a:avLst/>
          </a:prstGeom>
          <a:solidFill>
            <a:srgbClr val="7C3AED"/>
          </a:solidFill>
          <a:ln w="12700">
            <a:solidFill>
              <a:srgbClr val="7C3AED"/>
            </a:solidFill>
            <a:prstDash val="solid"/>
          </a:ln>
        </p:spPr>
      </p:sp>
      <p:sp>
        <p:nvSpPr>
          <p:cNvPr id="22" name="Text 20"/>
          <p:cNvSpPr/>
          <p:nvPr/>
        </p:nvSpPr>
        <p:spPr>
          <a:xfrm>
            <a:off x="594360" y="3685032"/>
            <a:ext cx="320040" cy="30175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Pha 1</a:t>
            </a:r>
            <a:endParaRPr lang="en-US" sz="900" dirty="0"/>
          </a:p>
        </p:txBody>
      </p:sp>
      <p:sp>
        <p:nvSpPr>
          <p:cNvPr id="23" name="Text 21"/>
          <p:cNvSpPr/>
          <p:nvPr/>
        </p:nvSpPr>
        <p:spPr>
          <a:xfrm>
            <a:off x="1005840" y="3657600"/>
            <a:ext cx="228600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Classify</a:t>
            </a:r>
            <a:endParaRPr lang="en-US" sz="1200" dirty="0"/>
          </a:p>
        </p:txBody>
      </p:sp>
      <p:sp>
        <p:nvSpPr>
          <p:cNvPr id="24" name="Text 22"/>
          <p:cNvSpPr/>
          <p:nvPr/>
        </p:nvSpPr>
        <p:spPr>
          <a:xfrm>
            <a:off x="1005840" y="3913632"/>
            <a:ext cx="2286000" cy="32004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Dự đoán Tier trước khi gửi request</a:t>
            </a:r>
            <a:endParaRPr lang="en-US" sz="1000" dirty="0"/>
          </a:p>
        </p:txBody>
      </p:sp>
      <p:sp>
        <p:nvSpPr>
          <p:cNvPr id="25" name="Shape 23"/>
          <p:cNvSpPr/>
          <p:nvPr/>
        </p:nvSpPr>
        <p:spPr>
          <a:xfrm>
            <a:off x="3063240" y="3840480"/>
            <a:ext cx="502920" cy="0"/>
          </a:xfrm>
          <a:prstGeom prst="line">
            <a:avLst/>
          </a:prstGeom>
          <a:noFill/>
          <a:ln w="12700">
            <a:solidFill>
              <a:srgbClr val="64748B"/>
            </a:solidFill>
            <a:prstDash val="solid"/>
          </a:ln>
        </p:spPr>
      </p:sp>
      <p:sp>
        <p:nvSpPr>
          <p:cNvPr id="26" name="Shape 24"/>
          <p:cNvSpPr/>
          <p:nvPr/>
        </p:nvSpPr>
        <p:spPr>
          <a:xfrm>
            <a:off x="3154680" y="3675888"/>
            <a:ext cx="320040" cy="320040"/>
          </a:xfrm>
          <a:prstGeom prst="ellipse">
            <a:avLst/>
          </a:prstGeom>
          <a:solidFill>
            <a:srgbClr val="7C3AED"/>
          </a:solidFill>
          <a:ln w="12700">
            <a:solidFill>
              <a:srgbClr val="7C3AED"/>
            </a:solidFill>
            <a:prstDash val="solid"/>
          </a:ln>
        </p:spPr>
      </p:sp>
      <p:sp>
        <p:nvSpPr>
          <p:cNvPr id="27" name="Text 25"/>
          <p:cNvSpPr/>
          <p:nvPr/>
        </p:nvSpPr>
        <p:spPr>
          <a:xfrm>
            <a:off x="3154680" y="3685032"/>
            <a:ext cx="320040" cy="30175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Pha 2</a:t>
            </a:r>
            <a:endParaRPr lang="en-US" sz="900" dirty="0"/>
          </a:p>
        </p:txBody>
      </p:sp>
      <p:sp>
        <p:nvSpPr>
          <p:cNvPr id="28" name="Text 26"/>
          <p:cNvSpPr/>
          <p:nvPr/>
        </p:nvSpPr>
        <p:spPr>
          <a:xfrm>
            <a:off x="3566160" y="3657600"/>
            <a:ext cx="228600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Observe</a:t>
            </a:r>
            <a:endParaRPr lang="en-US" sz="1200" dirty="0"/>
          </a:p>
        </p:txBody>
      </p:sp>
      <p:sp>
        <p:nvSpPr>
          <p:cNvPr id="29" name="Text 27"/>
          <p:cNvSpPr/>
          <p:nvPr/>
        </p:nvSpPr>
        <p:spPr>
          <a:xfrm>
            <a:off x="3566160" y="3913632"/>
            <a:ext cx="2286000" cy="32004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Ghi nhận kết quả, đánh giá chất lượng</a:t>
            </a:r>
            <a:endParaRPr lang="en-US" sz="1000" dirty="0"/>
          </a:p>
        </p:txBody>
      </p:sp>
      <p:sp>
        <p:nvSpPr>
          <p:cNvPr id="30" name="Shape 28"/>
          <p:cNvSpPr/>
          <p:nvPr/>
        </p:nvSpPr>
        <p:spPr>
          <a:xfrm>
            <a:off x="5623560" y="3840480"/>
            <a:ext cx="502920" cy="0"/>
          </a:xfrm>
          <a:prstGeom prst="line">
            <a:avLst/>
          </a:prstGeom>
          <a:noFill/>
          <a:ln w="12700">
            <a:solidFill>
              <a:srgbClr val="64748B"/>
            </a:solidFill>
            <a:prstDash val="solid"/>
          </a:ln>
        </p:spPr>
      </p:sp>
      <p:sp>
        <p:nvSpPr>
          <p:cNvPr id="31" name="Shape 29"/>
          <p:cNvSpPr/>
          <p:nvPr/>
        </p:nvSpPr>
        <p:spPr>
          <a:xfrm>
            <a:off x="5715000" y="3675888"/>
            <a:ext cx="320040" cy="320040"/>
          </a:xfrm>
          <a:prstGeom prst="ellipse">
            <a:avLst/>
          </a:prstGeom>
          <a:solidFill>
            <a:srgbClr val="7C3AED"/>
          </a:solidFill>
          <a:ln w="12700">
            <a:solidFill>
              <a:srgbClr val="7C3AED"/>
            </a:solidFill>
            <a:prstDash val="solid"/>
          </a:ln>
        </p:spPr>
      </p:sp>
      <p:sp>
        <p:nvSpPr>
          <p:cNvPr id="32" name="Text 30"/>
          <p:cNvSpPr/>
          <p:nvPr/>
        </p:nvSpPr>
        <p:spPr>
          <a:xfrm>
            <a:off x="5715000" y="3685032"/>
            <a:ext cx="320040" cy="30175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Pha 3</a:t>
            </a:r>
            <a:endParaRPr lang="en-US" sz="900" dirty="0"/>
          </a:p>
        </p:txBody>
      </p:sp>
      <p:sp>
        <p:nvSpPr>
          <p:cNvPr id="33" name="Text 31"/>
          <p:cNvSpPr/>
          <p:nvPr/>
        </p:nvSpPr>
        <p:spPr>
          <a:xfrm>
            <a:off x="6126480" y="3657600"/>
            <a:ext cx="228600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Adapt</a:t>
            </a:r>
            <a:endParaRPr lang="en-US" sz="1200" dirty="0"/>
          </a:p>
        </p:txBody>
      </p:sp>
      <p:sp>
        <p:nvSpPr>
          <p:cNvPr id="34" name="Text 32"/>
          <p:cNvSpPr/>
          <p:nvPr/>
        </p:nvSpPr>
        <p:spPr>
          <a:xfrm>
            <a:off x="6126480" y="3913632"/>
            <a:ext cx="2286000" cy="32004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Cập nhật ma trận routing, Fail-safe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Text 1"/>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Technical Highlights &amp; DevOps</a:t>
            </a:r>
            <a:endParaRPr lang="en-US" sz="3000" dirty="0"/>
          </a:p>
        </p:txBody>
      </p:sp>
      <p:sp>
        <p:nvSpPr>
          <p:cNvPr id="4" name="Shape 2"/>
          <p:cNvSpPr/>
          <p:nvPr/>
        </p:nvSpPr>
        <p:spPr>
          <a:xfrm>
            <a:off x="457200" y="868680"/>
            <a:ext cx="8229600" cy="0"/>
          </a:xfrm>
          <a:prstGeom prst="line">
            <a:avLst/>
          </a:prstGeom>
          <a:noFill/>
          <a:ln w="12700">
            <a:solidFill>
              <a:srgbClr val="F59E0B"/>
            </a:solidFill>
            <a:prstDash val="solid"/>
          </a:ln>
        </p:spPr>
      </p:sp>
      <p:sp>
        <p:nvSpPr>
          <p:cNvPr id="5" name="Shape 3"/>
          <p:cNvSpPr/>
          <p:nvPr/>
        </p:nvSpPr>
        <p:spPr>
          <a:xfrm>
            <a:off x="457200" y="1005840"/>
            <a:ext cx="4069080" cy="1737360"/>
          </a:xfrm>
          <a:prstGeom prst="roundRect">
            <a:avLst>
              <a:gd name="adj" fmla="val 6316"/>
            </a:avLst>
          </a:prstGeom>
          <a:solidFill>
            <a:srgbClr val="161B22"/>
          </a:solidFill>
          <a:ln w="12700">
            <a:solidFill>
              <a:srgbClr val="1F2937"/>
            </a:solidFill>
            <a:prstDash val="solid"/>
          </a:ln>
        </p:spPr>
      </p:sp>
      <p:sp>
        <p:nvSpPr>
          <p:cNvPr id="6" name="Shape 4"/>
          <p:cNvSpPr/>
          <p:nvPr/>
        </p:nvSpPr>
        <p:spPr>
          <a:xfrm>
            <a:off x="457200" y="1005840"/>
            <a:ext cx="4069080" cy="73152"/>
          </a:xfrm>
          <a:prstGeom prst="rect">
            <a:avLst/>
          </a:prstGeom>
          <a:solidFill>
            <a:srgbClr val="10B981"/>
          </a:solidFill>
          <a:ln w="12700">
            <a:solidFill>
              <a:srgbClr val="10B981"/>
            </a:solidFill>
            <a:prstDash val="solid"/>
          </a:ln>
        </p:spPr>
      </p:sp>
      <p:sp>
        <p:nvSpPr>
          <p:cNvPr id="7" name="Text 5"/>
          <p:cNvSpPr/>
          <p:nvPr/>
        </p:nvSpPr>
        <p:spPr>
          <a:xfrm>
            <a:off x="594360" y="1143000"/>
            <a:ext cx="3749040" cy="320040"/>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  OpenAPI Contract 100%</a:t>
            </a:r>
            <a:endParaRPr lang="en-US" sz="1300" dirty="0"/>
          </a:p>
        </p:txBody>
      </p:sp>
      <p:sp>
        <p:nvSpPr>
          <p:cNvPr id="8" name="Text 6"/>
          <p:cNvSpPr/>
          <p:nvPr/>
        </p:nvSpPr>
        <p:spPr>
          <a:xfrm>
            <a:off x="594360" y="1508760"/>
            <a:ext cx="3749040" cy="109728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Tuân thủ tuyệt đối chuẩn OpenAI Chat Completion Spec — zero breaking changes cho client.</a:t>
            </a:r>
            <a:endParaRPr lang="en-US" sz="1100" dirty="0"/>
          </a:p>
        </p:txBody>
      </p:sp>
      <p:sp>
        <p:nvSpPr>
          <p:cNvPr id="9" name="Shape 7"/>
          <p:cNvSpPr/>
          <p:nvPr/>
        </p:nvSpPr>
        <p:spPr>
          <a:xfrm>
            <a:off x="4800600" y="1005840"/>
            <a:ext cx="4069080" cy="1737360"/>
          </a:xfrm>
          <a:prstGeom prst="roundRect">
            <a:avLst>
              <a:gd name="adj" fmla="val 6316"/>
            </a:avLst>
          </a:prstGeom>
          <a:solidFill>
            <a:srgbClr val="161B22"/>
          </a:solidFill>
          <a:ln w="12700">
            <a:solidFill>
              <a:srgbClr val="1F2937"/>
            </a:solidFill>
            <a:prstDash val="solid"/>
          </a:ln>
        </p:spPr>
      </p:sp>
      <p:sp>
        <p:nvSpPr>
          <p:cNvPr id="10" name="Shape 8"/>
          <p:cNvSpPr/>
          <p:nvPr/>
        </p:nvSpPr>
        <p:spPr>
          <a:xfrm>
            <a:off x="4800600" y="1005840"/>
            <a:ext cx="4069080" cy="73152"/>
          </a:xfrm>
          <a:prstGeom prst="rect">
            <a:avLst/>
          </a:prstGeom>
          <a:solidFill>
            <a:srgbClr val="00D4FF"/>
          </a:solidFill>
          <a:ln w="12700">
            <a:solidFill>
              <a:srgbClr val="00D4FF"/>
            </a:solidFill>
            <a:prstDash val="solid"/>
          </a:ln>
        </p:spPr>
      </p:sp>
      <p:sp>
        <p:nvSpPr>
          <p:cNvPr id="11" name="Text 9"/>
          <p:cNvSpPr/>
          <p:nvPr/>
        </p:nvSpPr>
        <p:spPr>
          <a:xfrm>
            <a:off x="4937760" y="1143000"/>
            <a:ext cx="374904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Two-Phase Logging</a:t>
            </a:r>
            <a:endParaRPr lang="en-US" sz="1300" dirty="0"/>
          </a:p>
        </p:txBody>
      </p:sp>
      <p:sp>
        <p:nvSpPr>
          <p:cNvPr id="12" name="Text 10"/>
          <p:cNvSpPr/>
          <p:nvPr/>
        </p:nvSpPr>
        <p:spPr>
          <a:xfrm>
            <a:off x="4937760" y="1508760"/>
            <a:ext cx="3749040" cy="109728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INSERT pending trước → UPDATE async ngầm → Reconciler dọn orphan. Zero-blocking latency &amp; không mất log.</a:t>
            </a:r>
            <a:endParaRPr lang="en-US" sz="1100" dirty="0"/>
          </a:p>
        </p:txBody>
      </p:sp>
      <p:sp>
        <p:nvSpPr>
          <p:cNvPr id="13" name="Shape 11"/>
          <p:cNvSpPr/>
          <p:nvPr/>
        </p:nvSpPr>
        <p:spPr>
          <a:xfrm>
            <a:off x="457200" y="2926080"/>
            <a:ext cx="4069080" cy="1737360"/>
          </a:xfrm>
          <a:prstGeom prst="roundRect">
            <a:avLst>
              <a:gd name="adj" fmla="val 6316"/>
            </a:avLst>
          </a:prstGeom>
          <a:solidFill>
            <a:srgbClr val="161B22"/>
          </a:solidFill>
          <a:ln w="12700">
            <a:solidFill>
              <a:srgbClr val="1F2937"/>
            </a:solidFill>
            <a:prstDash val="solid"/>
          </a:ln>
        </p:spPr>
      </p:sp>
      <p:sp>
        <p:nvSpPr>
          <p:cNvPr id="14" name="Shape 12"/>
          <p:cNvSpPr/>
          <p:nvPr/>
        </p:nvSpPr>
        <p:spPr>
          <a:xfrm>
            <a:off x="457200" y="2926080"/>
            <a:ext cx="4069080" cy="73152"/>
          </a:xfrm>
          <a:prstGeom prst="rect">
            <a:avLst/>
          </a:prstGeom>
          <a:solidFill>
            <a:srgbClr val="7C3AED"/>
          </a:solidFill>
          <a:ln w="12700">
            <a:solidFill>
              <a:srgbClr val="7C3AED"/>
            </a:solidFill>
            <a:prstDash val="solid"/>
          </a:ln>
        </p:spPr>
      </p:sp>
      <p:sp>
        <p:nvSpPr>
          <p:cNvPr id="15" name="Text 13"/>
          <p:cNvSpPr/>
          <p:nvPr/>
        </p:nvSpPr>
        <p:spPr>
          <a:xfrm>
            <a:off x="594360" y="3063240"/>
            <a:ext cx="3749040" cy="32004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  CI/CD Pipeline</a:t>
            </a:r>
            <a:endParaRPr lang="en-US" sz="1300" dirty="0"/>
          </a:p>
        </p:txBody>
      </p:sp>
      <p:sp>
        <p:nvSpPr>
          <p:cNvPr id="16" name="Text 14"/>
          <p:cNvSpPr/>
          <p:nvPr/>
        </p:nvSpPr>
        <p:spPr>
          <a:xfrm>
            <a:off x="594360" y="3429000"/>
            <a:ext cx="3749040" cy="109728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Auto Linting (Ruff) + Unit Tests + Contract Gate trên GitHub Actions &amp; Self-hosted Runner. pytest với mock adapters đa kịch bản.</a:t>
            </a:r>
            <a:endParaRPr lang="en-US" sz="1100" dirty="0"/>
          </a:p>
        </p:txBody>
      </p:sp>
      <p:sp>
        <p:nvSpPr>
          <p:cNvPr id="17" name="Shape 15"/>
          <p:cNvSpPr/>
          <p:nvPr/>
        </p:nvSpPr>
        <p:spPr>
          <a:xfrm>
            <a:off x="4800600" y="2926080"/>
            <a:ext cx="4069080" cy="1737360"/>
          </a:xfrm>
          <a:prstGeom prst="roundRect">
            <a:avLst>
              <a:gd name="adj" fmla="val 6316"/>
            </a:avLst>
          </a:prstGeom>
          <a:solidFill>
            <a:srgbClr val="161B22"/>
          </a:solidFill>
          <a:ln w="12700">
            <a:solidFill>
              <a:srgbClr val="1F2937"/>
            </a:solidFill>
            <a:prstDash val="solid"/>
          </a:ln>
        </p:spPr>
      </p:sp>
      <p:sp>
        <p:nvSpPr>
          <p:cNvPr id="18" name="Shape 16"/>
          <p:cNvSpPr/>
          <p:nvPr/>
        </p:nvSpPr>
        <p:spPr>
          <a:xfrm>
            <a:off x="4800600" y="2926080"/>
            <a:ext cx="4069080" cy="73152"/>
          </a:xfrm>
          <a:prstGeom prst="rect">
            <a:avLst/>
          </a:prstGeom>
          <a:solidFill>
            <a:srgbClr val="F59E0B"/>
          </a:solidFill>
          <a:ln w="12700">
            <a:solidFill>
              <a:srgbClr val="F59E0B"/>
            </a:solidFill>
            <a:prstDash val="solid"/>
          </a:ln>
        </p:spPr>
      </p:sp>
      <p:sp>
        <p:nvSpPr>
          <p:cNvPr id="19" name="Text 17"/>
          <p:cNvSpPr/>
          <p:nvPr/>
        </p:nvSpPr>
        <p:spPr>
          <a:xfrm>
            <a:off x="4937760" y="3063240"/>
            <a:ext cx="374904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Security &amp; Scalability</a:t>
            </a:r>
            <a:endParaRPr lang="en-US" sz="1300" dirty="0"/>
          </a:p>
        </p:txBody>
      </p:sp>
      <p:sp>
        <p:nvSpPr>
          <p:cNvPr id="20" name="Text 18"/>
          <p:cNvSpPr/>
          <p:nvPr/>
        </p:nvSpPr>
        <p:spPr>
          <a:xfrm>
            <a:off x="4937760" y="3429000"/>
            <a:ext cx="3749040" cy="109728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API Key băm SHA-256 • Multi-stage Dockerfile tối ưu • Rate-limiting per Tier Quota • Header minh bạch X-SmartRoute-*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Text 1"/>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Evaluation &amp; Benchmark Results</a:t>
            </a:r>
            <a:endParaRPr lang="en-US" sz="3000" dirty="0"/>
          </a:p>
        </p:txBody>
      </p:sp>
      <p:sp>
        <p:nvSpPr>
          <p:cNvPr id="4" name="Shape 2"/>
          <p:cNvSpPr/>
          <p:nvPr/>
        </p:nvSpPr>
        <p:spPr>
          <a:xfrm>
            <a:off x="457200" y="868680"/>
            <a:ext cx="8229600" cy="0"/>
          </a:xfrm>
          <a:prstGeom prst="line">
            <a:avLst/>
          </a:prstGeom>
          <a:noFill/>
          <a:ln w="12700">
            <a:solidFill>
              <a:srgbClr val="10B981"/>
            </a:solidFill>
            <a:prstDash val="solid"/>
          </a:ln>
        </p:spPr>
      </p:sp>
      <p:sp>
        <p:nvSpPr>
          <p:cNvPr id="5" name="Text 3"/>
          <p:cNvSpPr/>
          <p:nvPr/>
        </p:nvSpPr>
        <p:spPr>
          <a:xfrm>
            <a:off x="457200" y="960120"/>
            <a:ext cx="8229600" cy="320040"/>
          </a:xfrm>
          <a:prstGeom prst="rect">
            <a:avLst/>
          </a:prstGeom>
          <a:noFill/>
          <a:ln/>
        </p:spPr>
        <p:txBody>
          <a:bodyPr wrap="square" rtlCol="0" anchor="ctr"/>
          <a:lstStyle/>
          <a:p>
            <a:pPr marL="0" indent="0">
              <a:buNone/>
            </a:pPr>
            <a:r>
              <a:rPr lang="en-US" sz="1200" i="1" dirty="0">
                <a:solidFill>
                  <a:srgbClr val="CBD5E1"/>
                </a:solidFill>
                <a:latin typeface="Calibri" pitchFamily="34" charset="0"/>
                <a:ea typeface="Calibri" pitchFamily="34" charset="-122"/>
                <a:cs typeface="Calibri" pitchFamily="34" charset="-120"/>
              </a:rPr>
              <a:t>200 Gold Standard Prompts  •  MMLU-Pro  •  Math500</a:t>
            </a:r>
            <a:endParaRPr lang="en-US" sz="1200" dirty="0"/>
          </a:p>
        </p:txBody>
      </p:sp>
      <p:sp>
        <p:nvSpPr>
          <p:cNvPr id="6" name="Shape 4"/>
          <p:cNvSpPr/>
          <p:nvPr/>
        </p:nvSpPr>
        <p:spPr>
          <a:xfrm>
            <a:off x="457200" y="1371600"/>
            <a:ext cx="3977640" cy="1828800"/>
          </a:xfrm>
          <a:prstGeom prst="roundRect">
            <a:avLst>
              <a:gd name="adj" fmla="val 6000"/>
            </a:avLst>
          </a:prstGeom>
          <a:solidFill>
            <a:srgbClr val="001A00"/>
          </a:solidFill>
          <a:ln w="12700">
            <a:solidFill>
              <a:srgbClr val="1F2937"/>
            </a:solidFill>
            <a:prstDash val="solid"/>
          </a:ln>
        </p:spPr>
      </p:sp>
      <p:sp>
        <p:nvSpPr>
          <p:cNvPr id="7" name="Text 5"/>
          <p:cNvSpPr/>
          <p:nvPr/>
        </p:nvSpPr>
        <p:spPr>
          <a:xfrm>
            <a:off x="457200" y="1417320"/>
            <a:ext cx="3977640" cy="914400"/>
          </a:xfrm>
          <a:prstGeom prst="rect">
            <a:avLst/>
          </a:prstGeom>
          <a:noFill/>
          <a:ln/>
        </p:spPr>
        <p:txBody>
          <a:bodyPr wrap="square" rtlCol="0" anchor="ctr"/>
          <a:lstStyle/>
          <a:p>
            <a:pPr marL="0" indent="0" algn="ctr">
              <a:buNone/>
            </a:pPr>
            <a:r>
              <a:rPr lang="en-US" sz="5600" b="1" dirty="0">
                <a:solidFill>
                  <a:srgbClr val="10B981"/>
                </a:solidFill>
                <a:latin typeface="Cambria" pitchFamily="34" charset="0"/>
                <a:ea typeface="Cambria" pitchFamily="34" charset="-122"/>
                <a:cs typeface="Cambria" pitchFamily="34" charset="-120"/>
              </a:rPr>
              <a:t>86.74%</a:t>
            </a:r>
            <a:endParaRPr lang="en-US" sz="5600" dirty="0"/>
          </a:p>
        </p:txBody>
      </p:sp>
      <p:sp>
        <p:nvSpPr>
          <p:cNvPr id="8" name="Text 6"/>
          <p:cNvSpPr/>
          <p:nvPr/>
        </p:nvSpPr>
        <p:spPr>
          <a:xfrm>
            <a:off x="457200" y="2331720"/>
            <a:ext cx="3977640" cy="731520"/>
          </a:xfrm>
          <a:prstGeom prst="rect">
            <a:avLst/>
          </a:prstGeom>
          <a:noFill/>
          <a:ln/>
        </p:spPr>
        <p:txBody>
          <a:bodyPr wrap="square" rtlCol="0" anchor="ctr"/>
          <a:lstStyle/>
          <a:p>
            <a:pPr marL="0" indent="0" algn="ctr">
              <a:buNone/>
            </a:pPr>
            <a:r>
              <a:rPr lang="en-US" sz="1300" dirty="0">
                <a:solidFill>
                  <a:srgbClr val="E2E8F0"/>
                </a:solidFill>
                <a:latin typeface="Calibri" pitchFamily="34" charset="0"/>
                <a:ea typeface="Calibri" pitchFamily="34" charset="-122"/>
                <a:cs typeface="Calibri" pitchFamily="34" charset="-120"/>
              </a:rPr>
              <a:t>Chi phí tiết kiệm / 1,000 requests</a:t>
            </a:r>
            <a:endParaRPr lang="en-US" sz="1300" dirty="0"/>
          </a:p>
          <a:p>
            <a:pPr marL="0" indent="0" algn="ctr">
              <a:buNone/>
            </a:pPr>
            <a:r>
              <a:rPr lang="en-US" sz="1300" dirty="0">
                <a:solidFill>
                  <a:srgbClr val="E2E8F0"/>
                </a:solidFill>
                <a:latin typeface="Calibri" pitchFamily="34" charset="0"/>
                <a:ea typeface="Calibri" pitchFamily="34" charset="-122"/>
                <a:cs typeface="Calibri" pitchFamily="34" charset="-120"/>
              </a:rPr>
              <a:t>$2.38  →  $0.315</a:t>
            </a:r>
            <a:endParaRPr lang="en-US" sz="1300" dirty="0"/>
          </a:p>
        </p:txBody>
      </p:sp>
      <p:sp>
        <p:nvSpPr>
          <p:cNvPr id="9" name="Shape 7"/>
          <p:cNvSpPr/>
          <p:nvPr/>
        </p:nvSpPr>
        <p:spPr>
          <a:xfrm>
            <a:off x="4617720" y="1371600"/>
            <a:ext cx="4069080" cy="868680"/>
          </a:xfrm>
          <a:prstGeom prst="roundRect">
            <a:avLst>
              <a:gd name="adj" fmla="val 12632"/>
            </a:avLst>
          </a:prstGeom>
          <a:solidFill>
            <a:srgbClr val="001020"/>
          </a:solidFill>
          <a:ln w="12700">
            <a:solidFill>
              <a:srgbClr val="1F2937"/>
            </a:solidFill>
            <a:prstDash val="solid"/>
          </a:ln>
        </p:spPr>
      </p:sp>
      <p:sp>
        <p:nvSpPr>
          <p:cNvPr id="10" name="Text 8"/>
          <p:cNvSpPr/>
          <p:nvPr/>
        </p:nvSpPr>
        <p:spPr>
          <a:xfrm>
            <a:off x="4617720" y="1417320"/>
            <a:ext cx="4069080" cy="457200"/>
          </a:xfrm>
          <a:prstGeom prst="rect">
            <a:avLst/>
          </a:prstGeom>
          <a:noFill/>
          <a:ln/>
        </p:spPr>
        <p:txBody>
          <a:bodyPr wrap="square" rtlCol="0" anchor="ctr"/>
          <a:lstStyle/>
          <a:p>
            <a:pPr marL="0" indent="0" algn="ctr">
              <a:buNone/>
            </a:pPr>
            <a:r>
              <a:rPr lang="en-US" sz="3200" b="1" dirty="0">
                <a:solidFill>
                  <a:srgbClr val="00D4FF"/>
                </a:solidFill>
                <a:latin typeface="Cambria" pitchFamily="34" charset="0"/>
                <a:ea typeface="Cambria" pitchFamily="34" charset="-122"/>
                <a:cs typeface="Cambria" pitchFamily="34" charset="-120"/>
              </a:rPr>
              <a:t>0.50 ms</a:t>
            </a:r>
            <a:endParaRPr lang="en-US" sz="3200" dirty="0"/>
          </a:p>
        </p:txBody>
      </p:sp>
      <p:sp>
        <p:nvSpPr>
          <p:cNvPr id="11" name="Text 9"/>
          <p:cNvSpPr/>
          <p:nvPr/>
        </p:nvSpPr>
        <p:spPr>
          <a:xfrm>
            <a:off x="4617720" y="1874520"/>
            <a:ext cx="4069080" cy="27432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Router Overhead — p50  (p95: 1.05 ms)</a:t>
            </a:r>
            <a:endParaRPr lang="en-US" sz="1100" dirty="0"/>
          </a:p>
        </p:txBody>
      </p:sp>
      <p:sp>
        <p:nvSpPr>
          <p:cNvPr id="12" name="Shape 10"/>
          <p:cNvSpPr/>
          <p:nvPr/>
        </p:nvSpPr>
        <p:spPr>
          <a:xfrm>
            <a:off x="4617720" y="2377440"/>
            <a:ext cx="4069080" cy="822960"/>
          </a:xfrm>
          <a:prstGeom prst="roundRect">
            <a:avLst>
              <a:gd name="adj" fmla="val 13333"/>
            </a:avLst>
          </a:prstGeom>
          <a:solidFill>
            <a:srgbClr val="001A10"/>
          </a:solidFill>
          <a:ln w="12700">
            <a:solidFill>
              <a:srgbClr val="1F2937"/>
            </a:solidFill>
            <a:prstDash val="solid"/>
          </a:ln>
        </p:spPr>
      </p:sp>
      <p:sp>
        <p:nvSpPr>
          <p:cNvPr id="13" name="Text 11"/>
          <p:cNvSpPr/>
          <p:nvPr/>
        </p:nvSpPr>
        <p:spPr>
          <a:xfrm>
            <a:off x="4617720" y="2423160"/>
            <a:ext cx="4069080" cy="411480"/>
          </a:xfrm>
          <a:prstGeom prst="rect">
            <a:avLst/>
          </a:prstGeom>
          <a:noFill/>
          <a:ln/>
        </p:spPr>
        <p:txBody>
          <a:bodyPr wrap="square" rtlCol="0" anchor="ctr"/>
          <a:lstStyle/>
          <a:p>
            <a:pPr marL="0" indent="0" algn="ctr">
              <a:buNone/>
            </a:pPr>
            <a:r>
              <a:rPr lang="en-US" sz="2400" b="1" dirty="0">
                <a:solidFill>
                  <a:srgbClr val="10B981"/>
                </a:solidFill>
                <a:latin typeface="Cambria" pitchFamily="34" charset="0"/>
                <a:ea typeface="Cambria" pitchFamily="34" charset="-122"/>
                <a:cs typeface="Cambria" pitchFamily="34" charset="-120"/>
              </a:rPr>
              <a:t>100% Fail-safe</a:t>
            </a:r>
            <a:endParaRPr lang="en-US" sz="2400" dirty="0"/>
          </a:p>
        </p:txBody>
      </p:sp>
      <p:sp>
        <p:nvSpPr>
          <p:cNvPr id="14" name="Text 12"/>
          <p:cNvSpPr/>
          <p:nvPr/>
        </p:nvSpPr>
        <p:spPr>
          <a:xfrm>
            <a:off x="4617720" y="2834640"/>
            <a:ext cx="4069080" cy="27432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Fallback đa provider — Uptime vượt trội</a:t>
            </a:r>
            <a:endParaRPr lang="en-US" sz="1100" dirty="0"/>
          </a:p>
        </p:txBody>
      </p:sp>
      <p:sp>
        <p:nvSpPr>
          <p:cNvPr id="15" name="Shape 13"/>
          <p:cNvSpPr/>
          <p:nvPr/>
        </p:nvSpPr>
        <p:spPr>
          <a:xfrm>
            <a:off x="457200" y="3337560"/>
            <a:ext cx="2560320" cy="320040"/>
          </a:xfrm>
          <a:prstGeom prst="rect">
            <a:avLst/>
          </a:prstGeom>
          <a:solidFill>
            <a:srgbClr val="1A2A3A"/>
          </a:solidFill>
          <a:ln w="12700">
            <a:solidFill>
              <a:srgbClr val="64748B"/>
            </a:solidFill>
            <a:prstDash val="solid"/>
          </a:ln>
        </p:spPr>
      </p:sp>
      <p:sp>
        <p:nvSpPr>
          <p:cNvPr id="16" name="Text 14"/>
          <p:cNvSpPr/>
          <p:nvPr/>
        </p:nvSpPr>
        <p:spPr>
          <a:xfrm>
            <a:off x="502920" y="3383280"/>
            <a:ext cx="2468880" cy="228600"/>
          </a:xfrm>
          <a:prstGeom prst="rect">
            <a:avLst/>
          </a:prstGeom>
          <a:noFill/>
          <a:ln/>
        </p:spPr>
        <p:txBody>
          <a:bodyPr wrap="square" rtlCol="0" anchor="ctr"/>
          <a:lstStyle/>
          <a:p>
            <a:pPr marL="0" indent="0" algn="ctr">
              <a:buNone/>
            </a:pPr>
            <a:r>
              <a:rPr lang="en-US" sz="1000" b="1" dirty="0">
                <a:solidFill>
                  <a:srgbClr val="00D4FF"/>
                </a:solidFill>
                <a:latin typeface="Calibri" pitchFamily="34" charset="0"/>
                <a:ea typeface="Calibri" pitchFamily="34" charset="-122"/>
                <a:cs typeface="Calibri" pitchFamily="34" charset="-120"/>
              </a:rPr>
              <a:t>Chỉ số</a:t>
            </a:r>
            <a:endParaRPr lang="en-US" sz="1000" dirty="0"/>
          </a:p>
        </p:txBody>
      </p:sp>
      <p:sp>
        <p:nvSpPr>
          <p:cNvPr id="17" name="Shape 15"/>
          <p:cNvSpPr/>
          <p:nvPr/>
        </p:nvSpPr>
        <p:spPr>
          <a:xfrm>
            <a:off x="3017520" y="3337560"/>
            <a:ext cx="2103120" cy="320040"/>
          </a:xfrm>
          <a:prstGeom prst="rect">
            <a:avLst/>
          </a:prstGeom>
          <a:solidFill>
            <a:srgbClr val="1A2A3A"/>
          </a:solidFill>
          <a:ln w="12700">
            <a:solidFill>
              <a:srgbClr val="64748B"/>
            </a:solidFill>
            <a:prstDash val="solid"/>
          </a:ln>
        </p:spPr>
      </p:sp>
      <p:sp>
        <p:nvSpPr>
          <p:cNvPr id="18" name="Text 16"/>
          <p:cNvSpPr/>
          <p:nvPr/>
        </p:nvSpPr>
        <p:spPr>
          <a:xfrm>
            <a:off x="3063240" y="3383280"/>
            <a:ext cx="2011680" cy="228600"/>
          </a:xfrm>
          <a:prstGeom prst="rect">
            <a:avLst/>
          </a:prstGeom>
          <a:noFill/>
          <a:ln/>
        </p:spPr>
        <p:txBody>
          <a:bodyPr wrap="square" rtlCol="0" anchor="ctr"/>
          <a:lstStyle/>
          <a:p>
            <a:pPr marL="0" indent="0" algn="ctr">
              <a:buNone/>
            </a:pPr>
            <a:r>
              <a:rPr lang="en-US" sz="1000" b="1" dirty="0">
                <a:solidFill>
                  <a:srgbClr val="00D4FF"/>
                </a:solidFill>
                <a:latin typeface="Calibri" pitchFamily="34" charset="0"/>
                <a:ea typeface="Calibri" pitchFamily="34" charset="-122"/>
                <a:cs typeface="Calibri" pitchFamily="34" charset="-120"/>
              </a:rPr>
              <a:t>GPT-5.4 (Frontier)</a:t>
            </a:r>
            <a:endParaRPr lang="en-US" sz="1000" dirty="0"/>
          </a:p>
        </p:txBody>
      </p:sp>
      <p:sp>
        <p:nvSpPr>
          <p:cNvPr id="19" name="Shape 17"/>
          <p:cNvSpPr/>
          <p:nvPr/>
        </p:nvSpPr>
        <p:spPr>
          <a:xfrm>
            <a:off x="5120640" y="3337560"/>
            <a:ext cx="2103120" cy="320040"/>
          </a:xfrm>
          <a:prstGeom prst="rect">
            <a:avLst/>
          </a:prstGeom>
          <a:solidFill>
            <a:srgbClr val="1A2A3A"/>
          </a:solidFill>
          <a:ln w="12700">
            <a:solidFill>
              <a:srgbClr val="64748B"/>
            </a:solidFill>
            <a:prstDash val="solid"/>
          </a:ln>
        </p:spPr>
      </p:sp>
      <p:sp>
        <p:nvSpPr>
          <p:cNvPr id="20" name="Text 18"/>
          <p:cNvSpPr/>
          <p:nvPr/>
        </p:nvSpPr>
        <p:spPr>
          <a:xfrm>
            <a:off x="5166360" y="3383280"/>
            <a:ext cx="2011680" cy="228600"/>
          </a:xfrm>
          <a:prstGeom prst="rect">
            <a:avLst/>
          </a:prstGeom>
          <a:noFill/>
          <a:ln/>
        </p:spPr>
        <p:txBody>
          <a:bodyPr wrap="square" rtlCol="0" anchor="ctr"/>
          <a:lstStyle/>
          <a:p>
            <a:pPr marL="0" indent="0" algn="ctr">
              <a:buNone/>
            </a:pPr>
            <a:r>
              <a:rPr lang="en-US" sz="1000" b="1" dirty="0">
                <a:solidFill>
                  <a:srgbClr val="00D4FF"/>
                </a:solidFill>
                <a:latin typeface="Calibri" pitchFamily="34" charset="0"/>
                <a:ea typeface="Calibri" pitchFamily="34" charset="-122"/>
                <a:cs typeface="Calibri" pitchFamily="34" charset="-120"/>
              </a:rPr>
              <a:t>SmartRoute</a:t>
            </a:r>
            <a:endParaRPr lang="en-US" sz="1000" dirty="0"/>
          </a:p>
        </p:txBody>
      </p:sp>
      <p:sp>
        <p:nvSpPr>
          <p:cNvPr id="21" name="Shape 19"/>
          <p:cNvSpPr/>
          <p:nvPr/>
        </p:nvSpPr>
        <p:spPr>
          <a:xfrm>
            <a:off x="7223760" y="3337560"/>
            <a:ext cx="1463040" cy="320040"/>
          </a:xfrm>
          <a:prstGeom prst="rect">
            <a:avLst/>
          </a:prstGeom>
          <a:solidFill>
            <a:srgbClr val="1A2A3A"/>
          </a:solidFill>
          <a:ln w="12700">
            <a:solidFill>
              <a:srgbClr val="64748B"/>
            </a:solidFill>
            <a:prstDash val="solid"/>
          </a:ln>
        </p:spPr>
      </p:sp>
      <p:sp>
        <p:nvSpPr>
          <p:cNvPr id="22" name="Text 20"/>
          <p:cNvSpPr/>
          <p:nvPr/>
        </p:nvSpPr>
        <p:spPr>
          <a:xfrm>
            <a:off x="7269480" y="3383280"/>
            <a:ext cx="1371600" cy="228600"/>
          </a:xfrm>
          <a:prstGeom prst="rect">
            <a:avLst/>
          </a:prstGeom>
          <a:noFill/>
          <a:ln/>
        </p:spPr>
        <p:txBody>
          <a:bodyPr wrap="square" rtlCol="0" anchor="ctr"/>
          <a:lstStyle/>
          <a:p>
            <a:pPr marL="0" indent="0" algn="ctr">
              <a:buNone/>
            </a:pPr>
            <a:r>
              <a:rPr lang="en-US" sz="1000" b="1" dirty="0">
                <a:solidFill>
                  <a:srgbClr val="00D4FF"/>
                </a:solidFill>
                <a:latin typeface="Calibri" pitchFamily="34" charset="0"/>
                <a:ea typeface="Calibri" pitchFamily="34" charset="-122"/>
                <a:cs typeface="Calibri" pitchFamily="34" charset="-120"/>
              </a:rPr>
              <a:t>Cải thiện</a:t>
            </a:r>
            <a:endParaRPr lang="en-US" sz="1000" dirty="0"/>
          </a:p>
        </p:txBody>
      </p:sp>
      <p:sp>
        <p:nvSpPr>
          <p:cNvPr id="23" name="Shape 21"/>
          <p:cNvSpPr/>
          <p:nvPr/>
        </p:nvSpPr>
        <p:spPr>
          <a:xfrm>
            <a:off x="457200" y="3657600"/>
            <a:ext cx="2560320" cy="320040"/>
          </a:xfrm>
          <a:prstGeom prst="rect">
            <a:avLst/>
          </a:prstGeom>
          <a:solidFill>
            <a:srgbClr val="161B22"/>
          </a:solidFill>
          <a:ln w="12700">
            <a:solidFill>
              <a:srgbClr val="64748B"/>
            </a:solidFill>
            <a:prstDash val="solid"/>
          </a:ln>
        </p:spPr>
      </p:sp>
      <p:sp>
        <p:nvSpPr>
          <p:cNvPr id="24" name="Text 22"/>
          <p:cNvSpPr/>
          <p:nvPr/>
        </p:nvSpPr>
        <p:spPr>
          <a:xfrm>
            <a:off x="502920" y="3703320"/>
            <a:ext cx="2468880" cy="2286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Chi phí / 1K requests</a:t>
            </a:r>
            <a:endParaRPr lang="en-US" sz="1000" dirty="0"/>
          </a:p>
        </p:txBody>
      </p:sp>
      <p:sp>
        <p:nvSpPr>
          <p:cNvPr id="25" name="Shape 23"/>
          <p:cNvSpPr/>
          <p:nvPr/>
        </p:nvSpPr>
        <p:spPr>
          <a:xfrm>
            <a:off x="3017520" y="3657600"/>
            <a:ext cx="2103120" cy="320040"/>
          </a:xfrm>
          <a:prstGeom prst="rect">
            <a:avLst/>
          </a:prstGeom>
          <a:solidFill>
            <a:srgbClr val="161B22"/>
          </a:solidFill>
          <a:ln w="12700">
            <a:solidFill>
              <a:srgbClr val="64748B"/>
            </a:solidFill>
            <a:prstDash val="solid"/>
          </a:ln>
        </p:spPr>
      </p:sp>
      <p:sp>
        <p:nvSpPr>
          <p:cNvPr id="26" name="Text 24"/>
          <p:cNvSpPr/>
          <p:nvPr/>
        </p:nvSpPr>
        <p:spPr>
          <a:xfrm>
            <a:off x="3063240" y="3703320"/>
            <a:ext cx="2011680" cy="22860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$2.380</a:t>
            </a:r>
            <a:endParaRPr lang="en-US" sz="1000" dirty="0"/>
          </a:p>
        </p:txBody>
      </p:sp>
      <p:sp>
        <p:nvSpPr>
          <p:cNvPr id="27" name="Shape 25"/>
          <p:cNvSpPr/>
          <p:nvPr/>
        </p:nvSpPr>
        <p:spPr>
          <a:xfrm>
            <a:off x="5120640" y="3657600"/>
            <a:ext cx="2103120" cy="320040"/>
          </a:xfrm>
          <a:prstGeom prst="rect">
            <a:avLst/>
          </a:prstGeom>
          <a:solidFill>
            <a:srgbClr val="161B22"/>
          </a:solidFill>
          <a:ln w="12700">
            <a:solidFill>
              <a:srgbClr val="64748B"/>
            </a:solidFill>
            <a:prstDash val="solid"/>
          </a:ln>
        </p:spPr>
      </p:sp>
      <p:sp>
        <p:nvSpPr>
          <p:cNvPr id="28" name="Text 26"/>
          <p:cNvSpPr/>
          <p:nvPr/>
        </p:nvSpPr>
        <p:spPr>
          <a:xfrm>
            <a:off x="5166360" y="3703320"/>
            <a:ext cx="2011680" cy="22860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$0.315</a:t>
            </a:r>
            <a:endParaRPr lang="en-US" sz="1000" dirty="0"/>
          </a:p>
        </p:txBody>
      </p:sp>
      <p:sp>
        <p:nvSpPr>
          <p:cNvPr id="29" name="Shape 27"/>
          <p:cNvSpPr/>
          <p:nvPr/>
        </p:nvSpPr>
        <p:spPr>
          <a:xfrm>
            <a:off x="7223760" y="3657600"/>
            <a:ext cx="1463040" cy="320040"/>
          </a:xfrm>
          <a:prstGeom prst="rect">
            <a:avLst/>
          </a:prstGeom>
          <a:solidFill>
            <a:srgbClr val="161B22"/>
          </a:solidFill>
          <a:ln w="12700">
            <a:solidFill>
              <a:srgbClr val="64748B"/>
            </a:solidFill>
            <a:prstDash val="solid"/>
          </a:ln>
        </p:spPr>
      </p:sp>
      <p:sp>
        <p:nvSpPr>
          <p:cNvPr id="30" name="Text 28"/>
          <p:cNvSpPr/>
          <p:nvPr/>
        </p:nvSpPr>
        <p:spPr>
          <a:xfrm>
            <a:off x="7269480" y="3703320"/>
            <a:ext cx="1371600" cy="228600"/>
          </a:xfrm>
          <a:prstGeom prst="rect">
            <a:avLst/>
          </a:prstGeom>
          <a:noFill/>
          <a:ln/>
        </p:spPr>
        <p:txBody>
          <a:bodyPr wrap="square"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 86.74%</a:t>
            </a:r>
            <a:endParaRPr lang="en-US" sz="1000" dirty="0"/>
          </a:p>
        </p:txBody>
      </p:sp>
      <p:sp>
        <p:nvSpPr>
          <p:cNvPr id="31" name="Shape 29"/>
          <p:cNvSpPr/>
          <p:nvPr/>
        </p:nvSpPr>
        <p:spPr>
          <a:xfrm>
            <a:off x="457200" y="3995928"/>
            <a:ext cx="2560320" cy="320040"/>
          </a:xfrm>
          <a:prstGeom prst="rect">
            <a:avLst/>
          </a:prstGeom>
          <a:solidFill>
            <a:srgbClr val="0D1117"/>
          </a:solidFill>
          <a:ln w="12700">
            <a:solidFill>
              <a:srgbClr val="64748B"/>
            </a:solidFill>
            <a:prstDash val="solid"/>
          </a:ln>
        </p:spPr>
      </p:sp>
      <p:sp>
        <p:nvSpPr>
          <p:cNvPr id="32" name="Text 30"/>
          <p:cNvSpPr/>
          <p:nvPr/>
        </p:nvSpPr>
        <p:spPr>
          <a:xfrm>
            <a:off x="502920" y="4041648"/>
            <a:ext cx="2468880" cy="2286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Router Latency</a:t>
            </a:r>
            <a:endParaRPr lang="en-US" sz="1000" dirty="0"/>
          </a:p>
        </p:txBody>
      </p:sp>
      <p:sp>
        <p:nvSpPr>
          <p:cNvPr id="33" name="Shape 31"/>
          <p:cNvSpPr/>
          <p:nvPr/>
        </p:nvSpPr>
        <p:spPr>
          <a:xfrm>
            <a:off x="3017520" y="3995928"/>
            <a:ext cx="2103120" cy="320040"/>
          </a:xfrm>
          <a:prstGeom prst="rect">
            <a:avLst/>
          </a:prstGeom>
          <a:solidFill>
            <a:srgbClr val="0D1117"/>
          </a:solidFill>
          <a:ln w="12700">
            <a:solidFill>
              <a:srgbClr val="64748B"/>
            </a:solidFill>
            <a:prstDash val="solid"/>
          </a:ln>
        </p:spPr>
      </p:sp>
      <p:sp>
        <p:nvSpPr>
          <p:cNvPr id="34" name="Text 32"/>
          <p:cNvSpPr/>
          <p:nvPr/>
        </p:nvSpPr>
        <p:spPr>
          <a:xfrm>
            <a:off x="3063240" y="4041648"/>
            <a:ext cx="2011680" cy="22860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a:t>
            </a:r>
            <a:endParaRPr lang="en-US" sz="1000" dirty="0"/>
          </a:p>
        </p:txBody>
      </p:sp>
      <p:sp>
        <p:nvSpPr>
          <p:cNvPr id="35" name="Shape 33"/>
          <p:cNvSpPr/>
          <p:nvPr/>
        </p:nvSpPr>
        <p:spPr>
          <a:xfrm>
            <a:off x="5120640" y="3995928"/>
            <a:ext cx="2103120" cy="320040"/>
          </a:xfrm>
          <a:prstGeom prst="rect">
            <a:avLst/>
          </a:prstGeom>
          <a:solidFill>
            <a:srgbClr val="0D1117"/>
          </a:solidFill>
          <a:ln w="12700">
            <a:solidFill>
              <a:srgbClr val="64748B"/>
            </a:solidFill>
            <a:prstDash val="solid"/>
          </a:ln>
        </p:spPr>
      </p:sp>
      <p:sp>
        <p:nvSpPr>
          <p:cNvPr id="36" name="Text 34"/>
          <p:cNvSpPr/>
          <p:nvPr/>
        </p:nvSpPr>
        <p:spPr>
          <a:xfrm>
            <a:off x="5166360" y="4041648"/>
            <a:ext cx="2011680" cy="22860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p50: 0.50 ms</a:t>
            </a:r>
            <a:endParaRPr lang="en-US" sz="1000" dirty="0"/>
          </a:p>
        </p:txBody>
      </p:sp>
      <p:sp>
        <p:nvSpPr>
          <p:cNvPr id="37" name="Shape 35"/>
          <p:cNvSpPr/>
          <p:nvPr/>
        </p:nvSpPr>
        <p:spPr>
          <a:xfrm>
            <a:off x="7223760" y="3995928"/>
            <a:ext cx="1463040" cy="320040"/>
          </a:xfrm>
          <a:prstGeom prst="rect">
            <a:avLst/>
          </a:prstGeom>
          <a:solidFill>
            <a:srgbClr val="0D1117"/>
          </a:solidFill>
          <a:ln w="12700">
            <a:solidFill>
              <a:srgbClr val="64748B"/>
            </a:solidFill>
            <a:prstDash val="solid"/>
          </a:ln>
        </p:spPr>
      </p:sp>
      <p:sp>
        <p:nvSpPr>
          <p:cNvPr id="38" name="Text 36"/>
          <p:cNvSpPr/>
          <p:nvPr/>
        </p:nvSpPr>
        <p:spPr>
          <a:xfrm>
            <a:off x="7269480" y="4041648"/>
            <a:ext cx="1371600" cy="228600"/>
          </a:xfrm>
          <a:prstGeom prst="rect">
            <a:avLst/>
          </a:prstGeom>
          <a:noFill/>
          <a:ln/>
        </p:spPr>
        <p:txBody>
          <a:bodyPr wrap="square"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 Gần tức thì</a:t>
            </a:r>
            <a:endParaRPr lang="en-US" sz="1000" dirty="0"/>
          </a:p>
        </p:txBody>
      </p:sp>
      <p:sp>
        <p:nvSpPr>
          <p:cNvPr id="39" name="Shape 37"/>
          <p:cNvSpPr/>
          <p:nvPr/>
        </p:nvSpPr>
        <p:spPr>
          <a:xfrm>
            <a:off x="457200" y="4334256"/>
            <a:ext cx="2560320" cy="320040"/>
          </a:xfrm>
          <a:prstGeom prst="rect">
            <a:avLst/>
          </a:prstGeom>
          <a:solidFill>
            <a:srgbClr val="161B22"/>
          </a:solidFill>
          <a:ln w="12700">
            <a:solidFill>
              <a:srgbClr val="64748B"/>
            </a:solidFill>
            <a:prstDash val="solid"/>
          </a:ln>
        </p:spPr>
      </p:sp>
      <p:sp>
        <p:nvSpPr>
          <p:cNvPr id="40" name="Text 38"/>
          <p:cNvSpPr/>
          <p:nvPr/>
        </p:nvSpPr>
        <p:spPr>
          <a:xfrm>
            <a:off x="502920" y="4379976"/>
            <a:ext cx="2468880" cy="2286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Fail-safe Rate</a:t>
            </a:r>
            <a:endParaRPr lang="en-US" sz="1000" dirty="0"/>
          </a:p>
        </p:txBody>
      </p:sp>
      <p:sp>
        <p:nvSpPr>
          <p:cNvPr id="41" name="Shape 39"/>
          <p:cNvSpPr/>
          <p:nvPr/>
        </p:nvSpPr>
        <p:spPr>
          <a:xfrm>
            <a:off x="3017520" y="4334256"/>
            <a:ext cx="2103120" cy="320040"/>
          </a:xfrm>
          <a:prstGeom prst="rect">
            <a:avLst/>
          </a:prstGeom>
          <a:solidFill>
            <a:srgbClr val="161B22"/>
          </a:solidFill>
          <a:ln w="12700">
            <a:solidFill>
              <a:srgbClr val="64748B"/>
            </a:solidFill>
            <a:prstDash val="solid"/>
          </a:ln>
        </p:spPr>
      </p:sp>
      <p:sp>
        <p:nvSpPr>
          <p:cNvPr id="42" name="Text 40"/>
          <p:cNvSpPr/>
          <p:nvPr/>
        </p:nvSpPr>
        <p:spPr>
          <a:xfrm>
            <a:off x="3063240" y="4379976"/>
            <a:ext cx="2011680" cy="22860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Phụ thuộc 1 server</a:t>
            </a:r>
            <a:endParaRPr lang="en-US" sz="1000" dirty="0"/>
          </a:p>
        </p:txBody>
      </p:sp>
      <p:sp>
        <p:nvSpPr>
          <p:cNvPr id="43" name="Shape 41"/>
          <p:cNvSpPr/>
          <p:nvPr/>
        </p:nvSpPr>
        <p:spPr>
          <a:xfrm>
            <a:off x="5120640" y="4334256"/>
            <a:ext cx="2103120" cy="320040"/>
          </a:xfrm>
          <a:prstGeom prst="rect">
            <a:avLst/>
          </a:prstGeom>
          <a:solidFill>
            <a:srgbClr val="161B22"/>
          </a:solidFill>
          <a:ln w="12700">
            <a:solidFill>
              <a:srgbClr val="64748B"/>
            </a:solidFill>
            <a:prstDash val="solid"/>
          </a:ln>
        </p:spPr>
      </p:sp>
      <p:sp>
        <p:nvSpPr>
          <p:cNvPr id="44" name="Text 42"/>
          <p:cNvSpPr/>
          <p:nvPr/>
        </p:nvSpPr>
        <p:spPr>
          <a:xfrm>
            <a:off x="5166360" y="4379976"/>
            <a:ext cx="2011680" cy="22860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100%</a:t>
            </a:r>
            <a:endParaRPr lang="en-US" sz="1000" dirty="0"/>
          </a:p>
        </p:txBody>
      </p:sp>
      <p:sp>
        <p:nvSpPr>
          <p:cNvPr id="45" name="Shape 43"/>
          <p:cNvSpPr/>
          <p:nvPr/>
        </p:nvSpPr>
        <p:spPr>
          <a:xfrm>
            <a:off x="7223760" y="4334256"/>
            <a:ext cx="1463040" cy="320040"/>
          </a:xfrm>
          <a:prstGeom prst="rect">
            <a:avLst/>
          </a:prstGeom>
          <a:solidFill>
            <a:srgbClr val="161B22"/>
          </a:solidFill>
          <a:ln w="12700">
            <a:solidFill>
              <a:srgbClr val="64748B"/>
            </a:solidFill>
            <a:prstDash val="solid"/>
          </a:ln>
        </p:spPr>
      </p:sp>
      <p:sp>
        <p:nvSpPr>
          <p:cNvPr id="46" name="Text 44"/>
          <p:cNvSpPr/>
          <p:nvPr/>
        </p:nvSpPr>
        <p:spPr>
          <a:xfrm>
            <a:off x="7269480" y="4379976"/>
            <a:ext cx="1371600" cy="228600"/>
          </a:xfrm>
          <a:prstGeom prst="rect">
            <a:avLst/>
          </a:prstGeom>
          <a:noFill/>
          <a:ln/>
        </p:spPr>
        <p:txBody>
          <a:bodyPr wrap="square"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 Vượt trội</a:t>
            </a:r>
            <a:endParaRPr lang="en-US" sz="1000" dirty="0"/>
          </a:p>
        </p:txBody>
      </p:sp>
      <p:sp>
        <p:nvSpPr>
          <p:cNvPr id="47" name="Shape 45"/>
          <p:cNvSpPr/>
          <p:nvPr/>
        </p:nvSpPr>
        <p:spPr>
          <a:xfrm>
            <a:off x="457200" y="4672584"/>
            <a:ext cx="2560320" cy="320040"/>
          </a:xfrm>
          <a:prstGeom prst="rect">
            <a:avLst/>
          </a:prstGeom>
          <a:solidFill>
            <a:srgbClr val="0D1117"/>
          </a:solidFill>
          <a:ln w="12700">
            <a:solidFill>
              <a:srgbClr val="64748B"/>
            </a:solidFill>
            <a:prstDash val="solid"/>
          </a:ln>
        </p:spPr>
      </p:sp>
      <p:sp>
        <p:nvSpPr>
          <p:cNvPr id="48" name="Text 46"/>
          <p:cNvSpPr/>
          <p:nvPr/>
        </p:nvSpPr>
        <p:spPr>
          <a:xfrm>
            <a:off x="502920" y="4718304"/>
            <a:ext cx="2468880" cy="2286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Quality Retention</a:t>
            </a:r>
            <a:endParaRPr lang="en-US" sz="1000" dirty="0"/>
          </a:p>
        </p:txBody>
      </p:sp>
      <p:sp>
        <p:nvSpPr>
          <p:cNvPr id="49" name="Shape 47"/>
          <p:cNvSpPr/>
          <p:nvPr/>
        </p:nvSpPr>
        <p:spPr>
          <a:xfrm>
            <a:off x="3017520" y="4672584"/>
            <a:ext cx="2103120" cy="320040"/>
          </a:xfrm>
          <a:prstGeom prst="rect">
            <a:avLst/>
          </a:prstGeom>
          <a:solidFill>
            <a:srgbClr val="0D1117"/>
          </a:solidFill>
          <a:ln w="12700">
            <a:solidFill>
              <a:srgbClr val="64748B"/>
            </a:solidFill>
            <a:prstDash val="solid"/>
          </a:ln>
        </p:spPr>
      </p:sp>
      <p:sp>
        <p:nvSpPr>
          <p:cNvPr id="50" name="Text 48"/>
          <p:cNvSpPr/>
          <p:nvPr/>
        </p:nvSpPr>
        <p:spPr>
          <a:xfrm>
            <a:off x="3063240" y="4718304"/>
            <a:ext cx="2011680" cy="22860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100% Baseline</a:t>
            </a:r>
            <a:endParaRPr lang="en-US" sz="1000" dirty="0"/>
          </a:p>
        </p:txBody>
      </p:sp>
      <p:sp>
        <p:nvSpPr>
          <p:cNvPr id="51" name="Shape 49"/>
          <p:cNvSpPr/>
          <p:nvPr/>
        </p:nvSpPr>
        <p:spPr>
          <a:xfrm>
            <a:off x="5120640" y="4672584"/>
            <a:ext cx="2103120" cy="320040"/>
          </a:xfrm>
          <a:prstGeom prst="rect">
            <a:avLst/>
          </a:prstGeom>
          <a:solidFill>
            <a:srgbClr val="0D1117"/>
          </a:solidFill>
          <a:ln w="12700">
            <a:solidFill>
              <a:srgbClr val="64748B"/>
            </a:solidFill>
            <a:prstDash val="solid"/>
          </a:ln>
        </p:spPr>
      </p:sp>
      <p:sp>
        <p:nvSpPr>
          <p:cNvPr id="52" name="Text 50"/>
          <p:cNvSpPr/>
          <p:nvPr/>
        </p:nvSpPr>
        <p:spPr>
          <a:xfrm>
            <a:off x="5166360" y="4718304"/>
            <a:ext cx="2011680" cy="22860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Đạt chuẩn</a:t>
            </a:r>
            <a:endParaRPr lang="en-US" sz="1000" dirty="0"/>
          </a:p>
        </p:txBody>
      </p:sp>
      <p:sp>
        <p:nvSpPr>
          <p:cNvPr id="53" name="Shape 51"/>
          <p:cNvSpPr/>
          <p:nvPr/>
        </p:nvSpPr>
        <p:spPr>
          <a:xfrm>
            <a:off x="7223760" y="4672584"/>
            <a:ext cx="1463040" cy="320040"/>
          </a:xfrm>
          <a:prstGeom prst="rect">
            <a:avLst/>
          </a:prstGeom>
          <a:solidFill>
            <a:srgbClr val="0D1117"/>
          </a:solidFill>
          <a:ln w="12700">
            <a:solidFill>
              <a:srgbClr val="64748B"/>
            </a:solidFill>
            <a:prstDash val="solid"/>
          </a:ln>
        </p:spPr>
      </p:sp>
      <p:sp>
        <p:nvSpPr>
          <p:cNvPr id="54" name="Text 52"/>
          <p:cNvSpPr/>
          <p:nvPr/>
        </p:nvSpPr>
        <p:spPr>
          <a:xfrm>
            <a:off x="7269480" y="4718304"/>
            <a:ext cx="1371600" cy="228600"/>
          </a:xfrm>
          <a:prstGeom prst="rect">
            <a:avLst/>
          </a:prstGeom>
          <a:noFill/>
          <a:ln/>
        </p:spPr>
        <p:txBody>
          <a:bodyPr wrap="square"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 Chấp thuận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Text 1"/>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Challenges &amp; Key Learnings</a:t>
            </a:r>
            <a:endParaRPr lang="en-US" sz="3000" dirty="0"/>
          </a:p>
        </p:txBody>
      </p:sp>
      <p:sp>
        <p:nvSpPr>
          <p:cNvPr id="4" name="Shape 2"/>
          <p:cNvSpPr/>
          <p:nvPr/>
        </p:nvSpPr>
        <p:spPr>
          <a:xfrm>
            <a:off x="457200" y="868680"/>
            <a:ext cx="8229600" cy="0"/>
          </a:xfrm>
          <a:prstGeom prst="line">
            <a:avLst/>
          </a:prstGeom>
          <a:noFill/>
          <a:ln w="12700">
            <a:solidFill>
              <a:srgbClr val="EF4444"/>
            </a:solidFill>
            <a:prstDash val="solid"/>
          </a:ln>
        </p:spPr>
      </p:sp>
      <p:sp>
        <p:nvSpPr>
          <p:cNvPr id="5" name="Shape 3"/>
          <p:cNvSpPr/>
          <p:nvPr/>
        </p:nvSpPr>
        <p:spPr>
          <a:xfrm>
            <a:off x="457200" y="1005840"/>
            <a:ext cx="8229600" cy="1097280"/>
          </a:xfrm>
          <a:prstGeom prst="roundRect">
            <a:avLst>
              <a:gd name="adj" fmla="val 10000"/>
            </a:avLst>
          </a:prstGeom>
          <a:solidFill>
            <a:srgbClr val="161B22"/>
          </a:solidFill>
          <a:ln w="12700">
            <a:solidFill>
              <a:srgbClr val="1F2937"/>
            </a:solidFill>
            <a:prstDash val="solid"/>
          </a:ln>
        </p:spPr>
      </p:sp>
      <p:sp>
        <p:nvSpPr>
          <p:cNvPr id="6" name="Shape 4"/>
          <p:cNvSpPr/>
          <p:nvPr/>
        </p:nvSpPr>
        <p:spPr>
          <a:xfrm>
            <a:off x="594360" y="1325880"/>
            <a:ext cx="457200" cy="457200"/>
          </a:xfrm>
          <a:prstGeom prst="ellipse">
            <a:avLst/>
          </a:prstGeom>
          <a:solidFill>
            <a:srgbClr val="EF4444"/>
          </a:solidFill>
          <a:ln w="12700">
            <a:solidFill>
              <a:srgbClr val="EF4444"/>
            </a:solidFill>
            <a:prstDash val="solid"/>
          </a:ln>
        </p:spPr>
      </p:sp>
      <p:sp>
        <p:nvSpPr>
          <p:cNvPr id="7" name="Text 5"/>
          <p:cNvSpPr/>
          <p:nvPr/>
        </p:nvSpPr>
        <p:spPr>
          <a:xfrm>
            <a:off x="594360" y="1344168"/>
            <a:ext cx="457200" cy="420624"/>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8" name="Text 6"/>
          <p:cNvSpPr/>
          <p:nvPr/>
        </p:nvSpPr>
        <p:spPr>
          <a:xfrm>
            <a:off x="1188720" y="1097280"/>
            <a:ext cx="6949440" cy="320040"/>
          </a:xfrm>
          <a:prstGeom prst="rect">
            <a:avLst/>
          </a:prstGeom>
          <a:noFill/>
          <a:ln/>
        </p:spPr>
        <p:txBody>
          <a:bodyPr wrap="square"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 Router Latency vs. Độ chính xác</a:t>
            </a:r>
            <a:endParaRPr lang="en-US" sz="1300" dirty="0"/>
          </a:p>
        </p:txBody>
      </p:sp>
      <p:sp>
        <p:nvSpPr>
          <p:cNvPr id="9" name="Text 7"/>
          <p:cNvSpPr/>
          <p:nvPr/>
        </p:nvSpPr>
        <p:spPr>
          <a:xfrm>
            <a:off x="1188720" y="1417320"/>
            <a:ext cx="6949440" cy="50292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Tách kiến trúc: Heuristic siêu tốc cho 80% prompt phổ biến + LLM Classifier cho 20% prompt phức tạp.</a:t>
            </a:r>
            <a:endParaRPr lang="en-US" sz="1100" dirty="0"/>
          </a:p>
        </p:txBody>
      </p:sp>
      <p:sp>
        <p:nvSpPr>
          <p:cNvPr id="10" name="Shape 8"/>
          <p:cNvSpPr/>
          <p:nvPr/>
        </p:nvSpPr>
        <p:spPr>
          <a:xfrm>
            <a:off x="457200" y="2240280"/>
            <a:ext cx="8229600" cy="1097280"/>
          </a:xfrm>
          <a:prstGeom prst="roundRect">
            <a:avLst>
              <a:gd name="adj" fmla="val 10000"/>
            </a:avLst>
          </a:prstGeom>
          <a:solidFill>
            <a:srgbClr val="161B22"/>
          </a:solidFill>
          <a:ln w="12700">
            <a:solidFill>
              <a:srgbClr val="1F2937"/>
            </a:solidFill>
            <a:prstDash val="solid"/>
          </a:ln>
        </p:spPr>
      </p:sp>
      <p:sp>
        <p:nvSpPr>
          <p:cNvPr id="11" name="Shape 9"/>
          <p:cNvSpPr/>
          <p:nvPr/>
        </p:nvSpPr>
        <p:spPr>
          <a:xfrm>
            <a:off x="594360" y="2560320"/>
            <a:ext cx="457200" cy="457200"/>
          </a:xfrm>
          <a:prstGeom prst="ellipse">
            <a:avLst/>
          </a:prstGeom>
          <a:solidFill>
            <a:srgbClr val="F59E0B"/>
          </a:solidFill>
          <a:ln w="12700">
            <a:solidFill>
              <a:srgbClr val="F59E0B"/>
            </a:solidFill>
            <a:prstDash val="solid"/>
          </a:ln>
        </p:spPr>
      </p:sp>
      <p:sp>
        <p:nvSpPr>
          <p:cNvPr id="12" name="Text 10"/>
          <p:cNvSpPr/>
          <p:nvPr/>
        </p:nvSpPr>
        <p:spPr>
          <a:xfrm>
            <a:off x="594360" y="2578608"/>
            <a:ext cx="457200" cy="420624"/>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3" name="Text 11"/>
          <p:cNvSpPr/>
          <p:nvPr/>
        </p:nvSpPr>
        <p:spPr>
          <a:xfrm>
            <a:off x="1188720" y="2331720"/>
            <a:ext cx="694944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Bất đồng bộ Contract đa Provider</a:t>
            </a:r>
            <a:endParaRPr lang="en-US" sz="1300" dirty="0"/>
          </a:p>
        </p:txBody>
      </p:sp>
      <p:sp>
        <p:nvSpPr>
          <p:cNvPr id="14" name="Text 12"/>
          <p:cNvSpPr/>
          <p:nvPr/>
        </p:nvSpPr>
        <p:spPr>
          <a:xfrm>
            <a:off x="1188720" y="2651760"/>
            <a:ext cx="6949440" cy="50292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Xây Adapter chuẩn hóa (nhiệt độ, streaming chunks, tool calls) khớp 100% chuẩn OpenAI.</a:t>
            </a:r>
            <a:endParaRPr lang="en-US" sz="1100" dirty="0"/>
          </a:p>
        </p:txBody>
      </p:sp>
      <p:sp>
        <p:nvSpPr>
          <p:cNvPr id="15" name="Shape 13"/>
          <p:cNvSpPr/>
          <p:nvPr/>
        </p:nvSpPr>
        <p:spPr>
          <a:xfrm>
            <a:off x="457200" y="3474720"/>
            <a:ext cx="8229600" cy="1097280"/>
          </a:xfrm>
          <a:prstGeom prst="roundRect">
            <a:avLst>
              <a:gd name="adj" fmla="val 10000"/>
            </a:avLst>
          </a:prstGeom>
          <a:solidFill>
            <a:srgbClr val="161B22"/>
          </a:solidFill>
          <a:ln w="12700">
            <a:solidFill>
              <a:srgbClr val="1F2937"/>
            </a:solidFill>
            <a:prstDash val="solid"/>
          </a:ln>
        </p:spPr>
      </p:sp>
      <p:sp>
        <p:nvSpPr>
          <p:cNvPr id="16" name="Shape 14"/>
          <p:cNvSpPr/>
          <p:nvPr/>
        </p:nvSpPr>
        <p:spPr>
          <a:xfrm>
            <a:off x="594360" y="3794760"/>
            <a:ext cx="457200" cy="457200"/>
          </a:xfrm>
          <a:prstGeom prst="ellipse">
            <a:avLst/>
          </a:prstGeom>
          <a:solidFill>
            <a:srgbClr val="7C3AED"/>
          </a:solidFill>
          <a:ln w="12700">
            <a:solidFill>
              <a:srgbClr val="7C3AED"/>
            </a:solidFill>
            <a:prstDash val="solid"/>
          </a:ln>
        </p:spPr>
      </p:sp>
      <p:sp>
        <p:nvSpPr>
          <p:cNvPr id="17" name="Text 15"/>
          <p:cNvSpPr/>
          <p:nvPr/>
        </p:nvSpPr>
        <p:spPr>
          <a:xfrm>
            <a:off x="594360" y="3813048"/>
            <a:ext cx="457200" cy="420624"/>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8" name="Text 16"/>
          <p:cNvSpPr/>
          <p:nvPr/>
        </p:nvSpPr>
        <p:spPr>
          <a:xfrm>
            <a:off x="1188720" y="3566160"/>
            <a:ext cx="6949440" cy="32004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 Sync Vercel Frontend ↔ Render Backend</a:t>
            </a:r>
            <a:endParaRPr lang="en-US" sz="1300" dirty="0"/>
          </a:p>
        </p:txBody>
      </p:sp>
      <p:sp>
        <p:nvSpPr>
          <p:cNvPr id="19" name="Text 17"/>
          <p:cNvSpPr/>
          <p:nvPr/>
        </p:nvSpPr>
        <p:spPr>
          <a:xfrm>
            <a:off x="1188720" y="3886200"/>
            <a:ext cx="6949440" cy="50292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Proxy nội bộ, CORS an toàn, quản lý token môi trường nghiêm ngặt.</a:t>
            </a:r>
            <a:endParaRPr lang="en-US" sz="1100" dirty="0"/>
          </a:p>
        </p:txBody>
      </p:sp>
      <p:sp>
        <p:nvSpPr>
          <p:cNvPr id="20" name="Shape 18"/>
          <p:cNvSpPr/>
          <p:nvPr/>
        </p:nvSpPr>
        <p:spPr>
          <a:xfrm>
            <a:off x="457200" y="4663440"/>
            <a:ext cx="8229600" cy="502920"/>
          </a:xfrm>
          <a:prstGeom prst="roundRect">
            <a:avLst>
              <a:gd name="adj" fmla="val 21818"/>
            </a:avLst>
          </a:prstGeom>
          <a:solidFill>
            <a:srgbClr val="0A2A0A"/>
          </a:solidFill>
          <a:ln w="12700">
            <a:solidFill>
              <a:srgbClr val="1F2937"/>
            </a:solidFill>
            <a:prstDash val="solid"/>
          </a:ln>
        </p:spPr>
      </p:sp>
      <p:sp>
        <p:nvSpPr>
          <p:cNvPr id="21" name="Text 19"/>
          <p:cNvSpPr/>
          <p:nvPr/>
        </p:nvSpPr>
        <p:spPr>
          <a:xfrm>
            <a:off x="594360" y="4700016"/>
            <a:ext cx="7955280" cy="429768"/>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Bài học: Kỷ luật về ADR/Journal + CI Contract Gate → phát hiện sớm 90% lỗi tích hợp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Shape 1"/>
          <p:cNvSpPr/>
          <p:nvPr/>
        </p:nvSpPr>
        <p:spPr>
          <a:xfrm>
            <a:off x="0" y="0"/>
            <a:ext cx="9144000" cy="914400"/>
          </a:xfrm>
          <a:prstGeom prst="rect">
            <a:avLst/>
          </a:prstGeom>
          <a:solidFill>
            <a:srgbClr val="111827"/>
          </a:solidFill>
          <a:ln w="12700">
            <a:solidFill>
              <a:srgbClr val="111827"/>
            </a:solidFill>
            <a:prstDash val="solid"/>
          </a:ln>
        </p:spPr>
      </p:sp>
      <p:sp>
        <p:nvSpPr>
          <p:cNvPr id="4" name="Text 2"/>
          <p:cNvSpPr/>
          <p:nvPr/>
        </p:nvSpPr>
        <p:spPr>
          <a:xfrm>
            <a:off x="457200" y="228600"/>
            <a:ext cx="54864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Team, Roadmap &amp; Ask</a:t>
            </a:r>
            <a:endParaRPr lang="en-US" sz="2800" dirty="0"/>
          </a:p>
        </p:txBody>
      </p:sp>
      <p:sp>
        <p:nvSpPr>
          <p:cNvPr id="5" name="Text 3"/>
          <p:cNvSpPr/>
          <p:nvPr/>
        </p:nvSpPr>
        <p:spPr>
          <a:xfrm>
            <a:off x="6858000" y="274320"/>
            <a:ext cx="2011680" cy="365760"/>
          </a:xfrm>
          <a:prstGeom prst="rect">
            <a:avLst/>
          </a:prstGeom>
          <a:noFill/>
          <a:ln/>
        </p:spPr>
        <p:txBody>
          <a:bodyPr wrap="square" rtlCol="0" anchor="ctr"/>
          <a:lstStyle/>
          <a:p>
            <a:pPr marL="0" indent="0" algn="r">
              <a:buNone/>
            </a:pPr>
            <a:r>
              <a:rPr lang="en-US" sz="1800" b="1" dirty="0">
                <a:solidFill>
                  <a:srgbClr val="00D4FF"/>
                </a:solidFill>
                <a:latin typeface="Cambria" pitchFamily="34" charset="0"/>
                <a:ea typeface="Cambria" pitchFamily="34" charset="-122"/>
                <a:cs typeface="Cambria" pitchFamily="34" charset="-120"/>
              </a:rPr>
              <a:t>Team 156</a:t>
            </a:r>
            <a:endParaRPr lang="en-US" sz="1800" dirty="0"/>
          </a:p>
        </p:txBody>
      </p:sp>
      <p:sp>
        <p:nvSpPr>
          <p:cNvPr id="6" name="Shape 4"/>
          <p:cNvSpPr/>
          <p:nvPr/>
        </p:nvSpPr>
        <p:spPr>
          <a:xfrm>
            <a:off x="457200" y="987552"/>
            <a:ext cx="4069080" cy="960120"/>
          </a:xfrm>
          <a:prstGeom prst="roundRect">
            <a:avLst>
              <a:gd name="adj" fmla="val 11429"/>
            </a:avLst>
          </a:prstGeom>
          <a:solidFill>
            <a:srgbClr val="161B22"/>
          </a:solidFill>
          <a:ln w="12700">
            <a:solidFill>
              <a:srgbClr val="1F2937"/>
            </a:solidFill>
            <a:prstDash val="solid"/>
          </a:ln>
        </p:spPr>
      </p:sp>
      <p:sp>
        <p:nvSpPr>
          <p:cNvPr id="7" name="Text 5"/>
          <p:cNvSpPr/>
          <p:nvPr/>
        </p:nvSpPr>
        <p:spPr>
          <a:xfrm>
            <a:off x="594360" y="1060704"/>
            <a:ext cx="3749040" cy="256032"/>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Lê Trần Long</a:t>
            </a:r>
            <a:endParaRPr lang="en-US" sz="1200" dirty="0"/>
          </a:p>
        </p:txBody>
      </p:sp>
      <p:sp>
        <p:nvSpPr>
          <p:cNvPr id="8" name="Text 6"/>
          <p:cNvSpPr/>
          <p:nvPr/>
        </p:nvSpPr>
        <p:spPr>
          <a:xfrm>
            <a:off x="594360" y="1316736"/>
            <a:ext cx="3749040" cy="228600"/>
          </a:xfrm>
          <a:prstGeom prst="rect">
            <a:avLst/>
          </a:prstGeom>
          <a:noFill/>
          <a:ln/>
        </p:spPr>
        <p:txBody>
          <a:bodyPr wrap="square" rtlCol="0" anchor="ctr"/>
          <a:lstStyle/>
          <a:p>
            <a:pPr marL="0" indent="0">
              <a:buNone/>
            </a:pPr>
            <a:r>
              <a:rPr lang="en-US" sz="1100" i="1" dirty="0">
                <a:solidFill>
                  <a:srgbClr val="F59E0B"/>
                </a:solidFill>
                <a:latin typeface="Calibri" pitchFamily="34" charset="0"/>
                <a:ea typeface="Calibri" pitchFamily="34" charset="-122"/>
                <a:cs typeface="Calibri" pitchFamily="34" charset="-120"/>
              </a:rPr>
              <a:t>DevOps &amp; Infra Lead</a:t>
            </a:r>
            <a:endParaRPr lang="en-US" sz="1100" dirty="0"/>
          </a:p>
        </p:txBody>
      </p:sp>
      <p:sp>
        <p:nvSpPr>
          <p:cNvPr id="9" name="Text 7"/>
          <p:cNvSpPr/>
          <p:nvPr/>
        </p:nvSpPr>
        <p:spPr>
          <a:xfrm>
            <a:off x="594360" y="1536192"/>
            <a:ext cx="3749040" cy="32004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Docker, CI/CD, Supabase, Admin APIs, Security, Benchmark Eval</a:t>
            </a:r>
            <a:endParaRPr lang="en-US" sz="900" dirty="0"/>
          </a:p>
        </p:txBody>
      </p:sp>
      <p:sp>
        <p:nvSpPr>
          <p:cNvPr id="10" name="Shape 8"/>
          <p:cNvSpPr/>
          <p:nvPr/>
        </p:nvSpPr>
        <p:spPr>
          <a:xfrm>
            <a:off x="4800600" y="987552"/>
            <a:ext cx="4069080" cy="960120"/>
          </a:xfrm>
          <a:prstGeom prst="roundRect">
            <a:avLst>
              <a:gd name="adj" fmla="val 11429"/>
            </a:avLst>
          </a:prstGeom>
          <a:solidFill>
            <a:srgbClr val="161B22"/>
          </a:solidFill>
          <a:ln w="12700">
            <a:solidFill>
              <a:srgbClr val="1F2937"/>
            </a:solidFill>
            <a:prstDash val="solid"/>
          </a:ln>
        </p:spPr>
      </p:sp>
      <p:sp>
        <p:nvSpPr>
          <p:cNvPr id="11" name="Text 9"/>
          <p:cNvSpPr/>
          <p:nvPr/>
        </p:nvSpPr>
        <p:spPr>
          <a:xfrm>
            <a:off x="4937760" y="1060704"/>
            <a:ext cx="3749040" cy="256032"/>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Nguyễn Thành An</a:t>
            </a:r>
            <a:endParaRPr lang="en-US" sz="1200" dirty="0"/>
          </a:p>
        </p:txBody>
      </p:sp>
      <p:sp>
        <p:nvSpPr>
          <p:cNvPr id="12" name="Text 10"/>
          <p:cNvSpPr/>
          <p:nvPr/>
        </p:nvSpPr>
        <p:spPr>
          <a:xfrm>
            <a:off x="4937760" y="1316736"/>
            <a:ext cx="3749040" cy="228600"/>
          </a:xfrm>
          <a:prstGeom prst="rect">
            <a:avLst/>
          </a:prstGeom>
          <a:noFill/>
          <a:ln/>
        </p:spPr>
        <p:txBody>
          <a:bodyPr wrap="square" rtlCol="0" anchor="ctr"/>
          <a:lstStyle/>
          <a:p>
            <a:pPr marL="0" indent="0">
              <a:buNone/>
            </a:pPr>
            <a:r>
              <a:rPr lang="en-US" sz="1100" i="1" dirty="0">
                <a:solidFill>
                  <a:srgbClr val="F59E0B"/>
                </a:solidFill>
                <a:latin typeface="Calibri" pitchFamily="34" charset="0"/>
                <a:ea typeface="Calibri" pitchFamily="34" charset="-122"/>
                <a:cs typeface="Calibri" pitchFamily="34" charset="-120"/>
              </a:rPr>
              <a:t>Product &amp; Core Backend</a:t>
            </a:r>
            <a:endParaRPr lang="en-US" sz="1100" dirty="0"/>
          </a:p>
        </p:txBody>
      </p:sp>
      <p:sp>
        <p:nvSpPr>
          <p:cNvPr id="13" name="Text 11"/>
          <p:cNvSpPr/>
          <p:nvPr/>
        </p:nvSpPr>
        <p:spPr>
          <a:xfrm>
            <a:off x="4937760" y="1536192"/>
            <a:ext cx="3749040" cy="32004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Architecture, Classifier v1.5, Session Router, Rate Limiting, SSE Streaming</a:t>
            </a:r>
            <a:endParaRPr lang="en-US" sz="900" dirty="0"/>
          </a:p>
        </p:txBody>
      </p:sp>
      <p:sp>
        <p:nvSpPr>
          <p:cNvPr id="14" name="Shape 12"/>
          <p:cNvSpPr/>
          <p:nvPr/>
        </p:nvSpPr>
        <p:spPr>
          <a:xfrm>
            <a:off x="457200" y="2084832"/>
            <a:ext cx="4069080" cy="960120"/>
          </a:xfrm>
          <a:prstGeom prst="roundRect">
            <a:avLst>
              <a:gd name="adj" fmla="val 11429"/>
            </a:avLst>
          </a:prstGeom>
          <a:solidFill>
            <a:srgbClr val="161B22"/>
          </a:solidFill>
          <a:ln w="12700">
            <a:solidFill>
              <a:srgbClr val="1F2937"/>
            </a:solidFill>
            <a:prstDash val="solid"/>
          </a:ln>
        </p:spPr>
      </p:sp>
      <p:sp>
        <p:nvSpPr>
          <p:cNvPr id="15" name="Text 13"/>
          <p:cNvSpPr/>
          <p:nvPr/>
        </p:nvSpPr>
        <p:spPr>
          <a:xfrm>
            <a:off x="594360" y="2157984"/>
            <a:ext cx="3749040" cy="256032"/>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Trần Trung Hiếu</a:t>
            </a:r>
            <a:endParaRPr lang="en-US" sz="1200" dirty="0"/>
          </a:p>
        </p:txBody>
      </p:sp>
      <p:sp>
        <p:nvSpPr>
          <p:cNvPr id="16" name="Text 14"/>
          <p:cNvSpPr/>
          <p:nvPr/>
        </p:nvSpPr>
        <p:spPr>
          <a:xfrm>
            <a:off x="594360" y="2414016"/>
            <a:ext cx="3749040" cy="228600"/>
          </a:xfrm>
          <a:prstGeom prst="rect">
            <a:avLst/>
          </a:prstGeom>
          <a:noFill/>
          <a:ln/>
        </p:spPr>
        <p:txBody>
          <a:bodyPr wrap="square" rtlCol="0" anchor="ctr"/>
          <a:lstStyle/>
          <a:p>
            <a:pPr marL="0" indent="0">
              <a:buNone/>
            </a:pPr>
            <a:r>
              <a:rPr lang="en-US" sz="1100" i="1" dirty="0">
                <a:solidFill>
                  <a:srgbClr val="F59E0B"/>
                </a:solidFill>
                <a:latin typeface="Calibri" pitchFamily="34" charset="0"/>
                <a:ea typeface="Calibri" pitchFamily="34" charset="-122"/>
                <a:cs typeface="Calibri" pitchFamily="34" charset="-120"/>
              </a:rPr>
              <a:t>Adapters &amp; Cost Engine</a:t>
            </a:r>
            <a:endParaRPr lang="en-US" sz="1100" dirty="0"/>
          </a:p>
        </p:txBody>
      </p:sp>
      <p:sp>
        <p:nvSpPr>
          <p:cNvPr id="17" name="Text 15"/>
          <p:cNvSpPr/>
          <p:nvPr/>
        </p:nvSpPr>
        <p:spPr>
          <a:xfrm>
            <a:off x="594360" y="2633472"/>
            <a:ext cx="3749040" cy="32004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Gemini/Groq/OpenAI Adapters, Fallback Chain, Circuit Breaker, Gold Dataset</a:t>
            </a:r>
            <a:endParaRPr lang="en-US" sz="900" dirty="0"/>
          </a:p>
        </p:txBody>
      </p:sp>
      <p:sp>
        <p:nvSpPr>
          <p:cNvPr id="18" name="Shape 16"/>
          <p:cNvSpPr/>
          <p:nvPr/>
        </p:nvSpPr>
        <p:spPr>
          <a:xfrm>
            <a:off x="4800600" y="2084832"/>
            <a:ext cx="4069080" cy="960120"/>
          </a:xfrm>
          <a:prstGeom prst="roundRect">
            <a:avLst>
              <a:gd name="adj" fmla="val 11429"/>
            </a:avLst>
          </a:prstGeom>
          <a:solidFill>
            <a:srgbClr val="161B22"/>
          </a:solidFill>
          <a:ln w="12700">
            <a:solidFill>
              <a:srgbClr val="1F2937"/>
            </a:solidFill>
            <a:prstDash val="solid"/>
          </a:ln>
        </p:spPr>
      </p:sp>
      <p:sp>
        <p:nvSpPr>
          <p:cNvPr id="19" name="Text 17"/>
          <p:cNvSpPr/>
          <p:nvPr/>
        </p:nvSpPr>
        <p:spPr>
          <a:xfrm>
            <a:off x="4937760" y="2157984"/>
            <a:ext cx="3749040" cy="256032"/>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Trần Vương Hưng</a:t>
            </a:r>
            <a:endParaRPr lang="en-US" sz="1200" dirty="0"/>
          </a:p>
        </p:txBody>
      </p:sp>
      <p:sp>
        <p:nvSpPr>
          <p:cNvPr id="20" name="Text 18"/>
          <p:cNvSpPr/>
          <p:nvPr/>
        </p:nvSpPr>
        <p:spPr>
          <a:xfrm>
            <a:off x="4937760" y="2414016"/>
            <a:ext cx="3749040" cy="228600"/>
          </a:xfrm>
          <a:prstGeom prst="rect">
            <a:avLst/>
          </a:prstGeom>
          <a:noFill/>
          <a:ln/>
        </p:spPr>
        <p:txBody>
          <a:bodyPr wrap="square" rtlCol="0" anchor="ctr"/>
          <a:lstStyle/>
          <a:p>
            <a:pPr marL="0" indent="0">
              <a:buNone/>
            </a:pPr>
            <a:r>
              <a:rPr lang="en-US" sz="1100" i="1" dirty="0">
                <a:solidFill>
                  <a:srgbClr val="F59E0B"/>
                </a:solidFill>
                <a:latin typeface="Calibri" pitchFamily="34" charset="0"/>
                <a:ea typeface="Calibri" pitchFamily="34" charset="-122"/>
                <a:cs typeface="Calibri" pitchFamily="34" charset="-120"/>
              </a:rPr>
              <a:t>AI Routing Specialist</a:t>
            </a:r>
            <a:endParaRPr lang="en-US" sz="1100" dirty="0"/>
          </a:p>
        </p:txBody>
      </p:sp>
      <p:sp>
        <p:nvSpPr>
          <p:cNvPr id="21" name="Text 19"/>
          <p:cNvSpPr/>
          <p:nvPr/>
        </p:nvSpPr>
        <p:spPr>
          <a:xfrm>
            <a:off x="4937760" y="2633472"/>
            <a:ext cx="3749040" cy="32004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Heuristic Classifier v1.5, Policy Engine, Request Orchestrator</a:t>
            </a:r>
            <a:endParaRPr lang="en-US" sz="900" dirty="0"/>
          </a:p>
        </p:txBody>
      </p:sp>
      <p:sp>
        <p:nvSpPr>
          <p:cNvPr id="22" name="Text 20"/>
          <p:cNvSpPr/>
          <p:nvPr/>
        </p:nvSpPr>
        <p:spPr>
          <a:xfrm>
            <a:off x="457200" y="3246120"/>
            <a:ext cx="457200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Lộ trình tương lai</a:t>
            </a:r>
            <a:endParaRPr lang="en-US" sz="1300" dirty="0"/>
          </a:p>
        </p:txBody>
      </p:sp>
      <p:sp>
        <p:nvSpPr>
          <p:cNvPr id="23" name="Shape 21"/>
          <p:cNvSpPr/>
          <p:nvPr/>
        </p:nvSpPr>
        <p:spPr>
          <a:xfrm>
            <a:off x="502920" y="3685032"/>
            <a:ext cx="182880" cy="182880"/>
          </a:xfrm>
          <a:prstGeom prst="ellipse">
            <a:avLst/>
          </a:prstGeom>
          <a:solidFill>
            <a:srgbClr val="10B981"/>
          </a:solidFill>
          <a:ln w="12700">
            <a:solidFill>
              <a:srgbClr val="10B981"/>
            </a:solidFill>
            <a:prstDash val="solid"/>
          </a:ln>
        </p:spPr>
      </p:sp>
      <p:sp>
        <p:nvSpPr>
          <p:cNvPr id="24" name="Text 22"/>
          <p:cNvSpPr/>
          <p:nvPr/>
        </p:nvSpPr>
        <p:spPr>
          <a:xfrm>
            <a:off x="777240" y="3611880"/>
            <a:ext cx="1097280" cy="32004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Q4/2026</a:t>
            </a:r>
            <a:endParaRPr lang="en-US" sz="1100" dirty="0"/>
          </a:p>
        </p:txBody>
      </p:sp>
      <p:sp>
        <p:nvSpPr>
          <p:cNvPr id="25" name="Text 23"/>
          <p:cNvSpPr/>
          <p:nvPr/>
        </p:nvSpPr>
        <p:spPr>
          <a:xfrm>
            <a:off x="1920240" y="3611880"/>
            <a:ext cx="2743200" cy="32004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Multi-modal Router (Hình ảnh, Audio, Tài liệu)</a:t>
            </a:r>
            <a:endParaRPr lang="en-US" sz="1100" dirty="0"/>
          </a:p>
        </p:txBody>
      </p:sp>
      <p:sp>
        <p:nvSpPr>
          <p:cNvPr id="26" name="Shape 24"/>
          <p:cNvSpPr/>
          <p:nvPr/>
        </p:nvSpPr>
        <p:spPr>
          <a:xfrm>
            <a:off x="502920" y="4069080"/>
            <a:ext cx="182880" cy="182880"/>
          </a:xfrm>
          <a:prstGeom prst="ellipse">
            <a:avLst/>
          </a:prstGeom>
          <a:solidFill>
            <a:srgbClr val="00D4FF"/>
          </a:solidFill>
          <a:ln w="12700">
            <a:solidFill>
              <a:srgbClr val="00D4FF"/>
            </a:solidFill>
            <a:prstDash val="solid"/>
          </a:ln>
        </p:spPr>
      </p:sp>
      <p:sp>
        <p:nvSpPr>
          <p:cNvPr id="27" name="Text 25"/>
          <p:cNvSpPr/>
          <p:nvPr/>
        </p:nvSpPr>
        <p:spPr>
          <a:xfrm>
            <a:off x="777240" y="3995928"/>
            <a:ext cx="1097280" cy="32004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Q1/2027</a:t>
            </a:r>
            <a:endParaRPr lang="en-US" sz="1100" dirty="0"/>
          </a:p>
        </p:txBody>
      </p:sp>
      <p:sp>
        <p:nvSpPr>
          <p:cNvPr id="28" name="Text 26"/>
          <p:cNvSpPr/>
          <p:nvPr/>
        </p:nvSpPr>
        <p:spPr>
          <a:xfrm>
            <a:off x="1920240" y="3995928"/>
            <a:ext cx="2743200" cy="32004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RL tự động tối ưu hóa chi phí per enterprise group</a:t>
            </a:r>
            <a:endParaRPr lang="en-US" sz="1100" dirty="0"/>
          </a:p>
        </p:txBody>
      </p:sp>
      <p:sp>
        <p:nvSpPr>
          <p:cNvPr id="29" name="Shape 27"/>
          <p:cNvSpPr/>
          <p:nvPr/>
        </p:nvSpPr>
        <p:spPr>
          <a:xfrm>
            <a:off x="502920" y="4453128"/>
            <a:ext cx="182880" cy="182880"/>
          </a:xfrm>
          <a:prstGeom prst="ellipse">
            <a:avLst/>
          </a:prstGeom>
          <a:solidFill>
            <a:srgbClr val="7C3AED"/>
          </a:solidFill>
          <a:ln w="12700">
            <a:solidFill>
              <a:srgbClr val="7C3AED"/>
            </a:solidFill>
            <a:prstDash val="solid"/>
          </a:ln>
        </p:spPr>
      </p:sp>
      <p:sp>
        <p:nvSpPr>
          <p:cNvPr id="30" name="Text 28"/>
          <p:cNvSpPr/>
          <p:nvPr/>
        </p:nvSpPr>
        <p:spPr>
          <a:xfrm>
            <a:off x="777240" y="4379976"/>
            <a:ext cx="1097280" cy="320040"/>
          </a:xfrm>
          <a:prstGeom prst="rect">
            <a:avLst/>
          </a:prstGeom>
          <a:noFill/>
          <a:ln/>
        </p:spPr>
        <p:txBody>
          <a:bodyPr wrap="square"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Future</a:t>
            </a:r>
            <a:endParaRPr lang="en-US" sz="1100" dirty="0"/>
          </a:p>
        </p:txBody>
      </p:sp>
      <p:sp>
        <p:nvSpPr>
          <p:cNvPr id="31" name="Text 29"/>
          <p:cNvSpPr/>
          <p:nvPr/>
        </p:nvSpPr>
        <p:spPr>
          <a:xfrm>
            <a:off x="1920240" y="4379976"/>
            <a:ext cx="2743200" cy="320040"/>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Enterprise On-premise / Private VPC Edition</a:t>
            </a:r>
            <a:endParaRPr lang="en-US" sz="1100" dirty="0"/>
          </a:p>
        </p:txBody>
      </p:sp>
      <p:sp>
        <p:nvSpPr>
          <p:cNvPr id="32" name="Shape 30"/>
          <p:cNvSpPr/>
          <p:nvPr/>
        </p:nvSpPr>
        <p:spPr>
          <a:xfrm>
            <a:off x="4846320" y="3200400"/>
            <a:ext cx="3840480" cy="1920240"/>
          </a:xfrm>
          <a:prstGeom prst="roundRect">
            <a:avLst>
              <a:gd name="adj" fmla="val 5714"/>
            </a:avLst>
          </a:prstGeom>
          <a:solidFill>
            <a:srgbClr val="0A1020"/>
          </a:solidFill>
          <a:ln w="12700">
            <a:solidFill>
              <a:srgbClr val="1F2937"/>
            </a:solidFill>
            <a:prstDash val="solid"/>
          </a:ln>
        </p:spPr>
      </p:sp>
      <p:sp>
        <p:nvSpPr>
          <p:cNvPr id="33" name="Text 31"/>
          <p:cNvSpPr/>
          <p:nvPr/>
        </p:nvSpPr>
        <p:spPr>
          <a:xfrm>
            <a:off x="4983480" y="3246120"/>
            <a:ext cx="3566160" cy="29260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Chúng tôi tìm kiếm</a:t>
            </a:r>
            <a:endParaRPr lang="en-US" sz="1300" dirty="0"/>
          </a:p>
        </p:txBody>
      </p:sp>
      <p:sp>
        <p:nvSpPr>
          <p:cNvPr id="34" name="Text 32"/>
          <p:cNvSpPr/>
          <p:nvPr/>
        </p:nvSpPr>
        <p:spPr>
          <a:xfrm>
            <a:off x="4983480" y="3611880"/>
            <a:ext cx="3566160" cy="38404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Beta Testers trong hệ sinh thái VinUni</a:t>
            </a:r>
            <a:endParaRPr lang="en-US" sz="1100" dirty="0"/>
          </a:p>
        </p:txBody>
      </p:sp>
      <p:sp>
        <p:nvSpPr>
          <p:cNvPr id="35" name="Text 33"/>
          <p:cNvSpPr/>
          <p:nvPr/>
        </p:nvSpPr>
        <p:spPr>
          <a:xfrm>
            <a:off x="4983480" y="4069080"/>
            <a:ext cx="3566160" cy="38404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Compute / API Credits để mở rộng Benchmark</a:t>
            </a:r>
            <a:endParaRPr lang="en-US" sz="1100" dirty="0"/>
          </a:p>
        </p:txBody>
      </p:sp>
      <p:sp>
        <p:nvSpPr>
          <p:cNvPr id="36" name="Text 34"/>
          <p:cNvSpPr/>
          <p:nvPr/>
        </p:nvSpPr>
        <p:spPr>
          <a:xfrm>
            <a:off x="4983480" y="4526280"/>
            <a:ext cx="3566160" cy="38404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 Đối tác tích hợp thử nghiệm thực tế</a:t>
            </a:r>
            <a:endParaRPr lang="en-US" sz="1100" dirty="0"/>
          </a:p>
        </p:txBody>
      </p:sp>
      <p:sp>
        <p:nvSpPr>
          <p:cNvPr id="37" name="Shape 35"/>
          <p:cNvSpPr/>
          <p:nvPr/>
        </p:nvSpPr>
        <p:spPr>
          <a:xfrm>
            <a:off x="0" y="4800600"/>
            <a:ext cx="9144000" cy="457200"/>
          </a:xfrm>
          <a:prstGeom prst="rect">
            <a:avLst/>
          </a:prstGeom>
          <a:solidFill>
            <a:srgbClr val="111827"/>
          </a:solidFill>
          <a:ln w="12700">
            <a:solidFill>
              <a:srgbClr val="111827"/>
            </a:solidFill>
            <a:prstDash val="solid"/>
          </a:ln>
        </p:spPr>
      </p:sp>
      <p:sp>
        <p:nvSpPr>
          <p:cNvPr id="38" name="Text 36"/>
          <p:cNvSpPr/>
          <p:nvPr/>
        </p:nvSpPr>
        <p:spPr>
          <a:xfrm>
            <a:off x="457200" y="4828032"/>
            <a:ext cx="8229600" cy="384048"/>
          </a:xfrm>
          <a:prstGeom prst="rect">
            <a:avLst/>
          </a:prstGeom>
          <a:noFill/>
          <a:ln/>
        </p:spPr>
        <p:txBody>
          <a:bodyPr wrap="square" rtlCol="0" anchor="ctr"/>
          <a:lstStyle/>
          <a:p>
            <a:pPr marL="0" indent="0" algn="ctr">
              <a:buNone/>
            </a:pPr>
            <a:r>
              <a:rPr lang="en-US" sz="1300" b="1" dirty="0">
                <a:solidFill>
                  <a:srgbClr val="00D4FF"/>
                </a:solidFill>
                <a:latin typeface="Calibri" pitchFamily="34" charset="0"/>
                <a:ea typeface="Calibri" pitchFamily="34" charset="-122"/>
                <a:cs typeface="Calibri" pitchFamily="34" charset="-120"/>
              </a:rPr>
              <a:t>Cảm ơn Ban Giám Khảo!  —  Team 156, SmartRoute AI Gateway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1699</Words>
  <Application>Microsoft Office PowerPoint</Application>
  <PresentationFormat>On-screen Show (16:9)</PresentationFormat>
  <Paragraphs>214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 Tran Long 20225577</cp:lastModifiedBy>
  <cp:revision>2</cp:revision>
  <dcterms:created xsi:type="dcterms:W3CDTF">2026-08-23T17:06:08Z</dcterms:created>
  <dcterms:modified xsi:type="dcterms:W3CDTF">2026-08-26T19:09:34Z</dcterms:modified>
</cp:coreProperties>
</file>